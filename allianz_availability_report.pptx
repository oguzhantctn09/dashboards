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1416" y="-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 smtClean="0"/>
              <a:t>Click to edit Master subtitle style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12AA3-2E20-47C0-BA88-04677EB4993E}" type="datetimeFigureOut">
              <a:rPr lang="zh-CN" altLang="en-US" smtClean="0"/>
              <a:t>2025/1/21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E1622-0C31-46E6-8822-D97B4C28C2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462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12AA3-2E20-47C0-BA88-04677EB4993E}" type="datetimeFigureOut">
              <a:rPr lang="zh-CN" altLang="en-US" smtClean="0"/>
              <a:t>2025/1/21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E1622-0C31-46E6-8822-D97B4C28C2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6534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12AA3-2E20-47C0-BA88-04677EB4993E}" type="datetimeFigureOut">
              <a:rPr lang="zh-CN" altLang="en-US" smtClean="0"/>
              <a:t>2025/1/21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E1622-0C31-46E6-8822-D97B4C28C2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803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12AA3-2E20-47C0-BA88-04677EB4993E}" type="datetimeFigureOut">
              <a:rPr lang="zh-CN" altLang="en-US" smtClean="0"/>
              <a:t>2025/1/21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E1622-0C31-46E6-8822-D97B4C28C2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1638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12AA3-2E20-47C0-BA88-04677EB4993E}" type="datetimeFigureOut">
              <a:rPr lang="zh-CN" altLang="en-US" smtClean="0"/>
              <a:t>2025/1/21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E1622-0C31-46E6-8822-D97B4C28C2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7502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12AA3-2E20-47C0-BA88-04677EB4993E}" type="datetimeFigureOut">
              <a:rPr lang="zh-CN" altLang="en-US" smtClean="0"/>
              <a:t>2025/1/21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E1622-0C31-46E6-8822-D97B4C28C2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806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12AA3-2E20-47C0-BA88-04677EB4993E}" type="datetimeFigureOut">
              <a:rPr lang="zh-CN" altLang="en-US" smtClean="0"/>
              <a:t>2025/1/21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E1622-0C31-46E6-8822-D97B4C28C2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5165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12AA3-2E20-47C0-BA88-04677EB4993E}" type="datetimeFigureOut">
              <a:rPr lang="zh-CN" altLang="en-US" smtClean="0"/>
              <a:t>2025/1/21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E1622-0C31-46E6-8822-D97B4C28C2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2402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12AA3-2E20-47C0-BA88-04677EB4993E}" type="datetimeFigureOut">
              <a:rPr lang="zh-CN" altLang="en-US" smtClean="0"/>
              <a:t>2025/1/21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E1622-0C31-46E6-8822-D97B4C28C2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9335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12AA3-2E20-47C0-BA88-04677EB4993E}" type="datetimeFigureOut">
              <a:rPr lang="zh-CN" altLang="en-US" smtClean="0"/>
              <a:t>2025/1/21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E1622-0C31-46E6-8822-D97B4C28C2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762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12AA3-2E20-47C0-BA88-04677EB4993E}" type="datetimeFigureOut">
              <a:rPr lang="zh-CN" altLang="en-US" smtClean="0"/>
              <a:t>2025/1/21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E1622-0C31-46E6-8822-D97B4C28C2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1515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F60DB7-6E48-4466-B7A9-24611520A472}" type="datetimeFigureOut">
              <a:rPr lang="zh-CN" altLang="en-US" smtClean="0"/>
              <a:t>2025/1/21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5D7CD6-334A-41AE-9AE2-B93EEDD81D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4068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Page-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"/>
          <p:cNvSpPr/>
          <p:nvPr/>
        </p:nvSpPr>
        <p:spPr>
          <a:xfrm>
            <a:off x="1129200" y="-367200"/>
            <a:ext cx="1102000" cy="440800"/>
          </a:xfrm>
          <a:custGeom>
            <a:avLst/>
            <a:gdLst>
              <a:gd name="connsiteX0" fmla="*/ 1102000 w 1102000"/>
              <a:gd name="connsiteY0" fmla="*/ 220400 h 440800"/>
            </a:gdLst>
            <a:ahLst/>
            <a:cxnLst>
              <a:cxn ang="0">
                <a:pos x="connsiteX0" y="connsiteY0"/>
              </a:cxn>
            </a:cxnLst>
            <a:rect l="l" t="t" r="r" b="b"/>
            <a:pathLst>
              <a:path w="1102000" h="440800" stroke="0">
                <a:moveTo>
                  <a:pt x="0" y="0"/>
                </a:moveTo>
                <a:lnTo>
                  <a:pt x="1102000" y="0"/>
                </a:lnTo>
                <a:lnTo>
                  <a:pt x="1102000" y="440800"/>
                </a:lnTo>
                <a:lnTo>
                  <a:pt x="0" y="440800"/>
                </a:lnTo>
                <a:lnTo>
                  <a:pt x="0" y="0"/>
                </a:lnTo>
                <a:close/>
              </a:path>
              <a:path w="1102000" h="440800" fill="none">
                <a:moveTo>
                  <a:pt x="0" y="0"/>
                </a:moveTo>
                <a:lnTo>
                  <a:pt x="1102000" y="0"/>
                </a:lnTo>
                <a:lnTo>
                  <a:pt x="1102000" y="440800"/>
                </a:lnTo>
                <a:lnTo>
                  <a:pt x="0" y="440800"/>
                </a:lnTo>
                <a:lnTo>
                  <a:pt x="0" y="0"/>
                </a:lnTo>
                <a:close/>
              </a:path>
            </a:pathLst>
          </a:custGeom>
          <a:noFill/>
          <a:ln w="7600" cap="flat">
            <a:noFill/>
            <a:miter/>
          </a:ln>
        </p:spPr>
        <p:txBody>
          <a:bodyPr wrap="square" lIns="38100" tIns="38100" rIns="38100" bIns="38100" rtlCol="0" anchor="ctr"/>
          <a:lstStyle/>
          <a:p>
            <a:pPr algn="l"/>
            <a:r>
              <a:rPr lang="zh-CN" altLang="en-US" sz="912" b="1" dirty="0">
                <a:solidFill>
                  <a:srgbClr val="191919"/>
                </a:solidFill>
                <a:latin typeface="Microsoft New Tai Lue"/>
                <a:ea typeface="Microsoft New Tai Lue"/>
                <a:cs typeface="Microsoft New Tai Lue"/>
              </a:rPr>
              <a:t>Policy Production </a:t>
            </a:r>
          </a:p>
        </p:txBody>
      </p:sp>
      <p:sp>
        <p:nvSpPr>
          <p:cNvPr id="102" name="Serbest Form 101"/>
          <p:cNvSpPr/>
          <p:nvPr/>
        </p:nvSpPr>
        <p:spPr>
          <a:xfrm>
            <a:off x="2805000" y="-222800"/>
            <a:ext cx="1147600" cy="688560"/>
          </a:xfrm>
          <a:custGeom>
            <a:avLst/>
            <a:gdLst>
              <a:gd name="connsiteX0" fmla="*/ 0 w 1147600"/>
              <a:gd name="connsiteY0" fmla="*/ 344280 h 688560"/>
              <a:gd name="connsiteX1" fmla="*/ 573800 w 1147600"/>
              <a:gd name="connsiteY1" fmla="*/ 0 h 688560"/>
              <a:gd name="connsiteX2" fmla="*/ 1147600 w 1147600"/>
              <a:gd name="connsiteY2" fmla="*/ 344280 h 688560"/>
              <a:gd name="connsiteX3" fmla="*/ 573800 w 1147600"/>
              <a:gd name="connsiteY3" fmla="*/ 688560 h 688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7600" h="688560" stroke="0">
                <a:moveTo>
                  <a:pt x="1147600" y="635360"/>
                </a:moveTo>
                <a:lnTo>
                  <a:pt x="1147600" y="53200"/>
                </a:lnTo>
                <a:cubicBezTo>
                  <a:pt x="1147600" y="23834"/>
                  <a:pt x="1123766" y="0"/>
                  <a:pt x="1094400" y="0"/>
                </a:cubicBezTo>
                <a:lnTo>
                  <a:pt x="53200" y="0"/>
                </a:lnTo>
                <a:cubicBezTo>
                  <a:pt x="23834" y="0"/>
                  <a:pt x="0" y="23834"/>
                  <a:pt x="0" y="53200"/>
                </a:cubicBezTo>
                <a:lnTo>
                  <a:pt x="0" y="635360"/>
                </a:lnTo>
                <a:cubicBezTo>
                  <a:pt x="0" y="664726"/>
                  <a:pt x="23834" y="688560"/>
                  <a:pt x="53200" y="688560"/>
                </a:cubicBezTo>
                <a:lnTo>
                  <a:pt x="1094400" y="688560"/>
                </a:lnTo>
                <a:cubicBezTo>
                  <a:pt x="1123766" y="688560"/>
                  <a:pt x="1147600" y="664726"/>
                  <a:pt x="1147600" y="635360"/>
                </a:cubicBezTo>
                <a:close/>
              </a:path>
              <a:path w="1147600" h="688560" fill="none">
                <a:moveTo>
                  <a:pt x="1147600" y="635360"/>
                </a:moveTo>
                <a:lnTo>
                  <a:pt x="1147600" y="53200"/>
                </a:lnTo>
                <a:cubicBezTo>
                  <a:pt x="1147600" y="23834"/>
                  <a:pt x="1123766" y="0"/>
                  <a:pt x="1094400" y="0"/>
                </a:cubicBezTo>
                <a:lnTo>
                  <a:pt x="53200" y="0"/>
                </a:lnTo>
                <a:cubicBezTo>
                  <a:pt x="23834" y="0"/>
                  <a:pt x="0" y="23834"/>
                  <a:pt x="0" y="53200"/>
                </a:cubicBezTo>
                <a:lnTo>
                  <a:pt x="0" y="635360"/>
                </a:lnTo>
                <a:cubicBezTo>
                  <a:pt x="0" y="664726"/>
                  <a:pt x="23834" y="688560"/>
                  <a:pt x="53200" y="688560"/>
                </a:cubicBezTo>
                <a:lnTo>
                  <a:pt x="1094400" y="688560"/>
                </a:lnTo>
                <a:cubicBezTo>
                  <a:pt x="1123766" y="688560"/>
                  <a:pt x="1147600" y="664726"/>
                  <a:pt x="1147600" y="635360"/>
                </a:cubicBezTo>
                <a:close/>
              </a:path>
            </a:pathLst>
          </a:custGeom>
          <a:solidFill>
            <a:srgbClr val="92D050"/>
          </a:solidFill>
          <a:ln w="7600" cap="flat">
            <a:solidFill>
              <a:srgbClr val="101843"/>
            </a:solidFill>
            <a:round/>
          </a:ln>
        </p:spPr>
        <p:txBody>
          <a:bodyPr wrap="square" lIns="38100" tIns="38100" rIns="38100" bIns="38100" rtlCol="0" anchor="ctr"/>
          <a:lstStyle/>
          <a:p>
            <a:pPr algn="ctr"/>
            <a:r>
              <a:rPr lang="zh-CN" altLang="en-US" sz="912" b="1" dirty="0">
                <a:solidFill>
                  <a:srgbClr val="191919"/>
                </a:solidFill>
                <a:latin typeface="Microsoft New Tai Lue"/>
                <a:ea typeface="Microsoft New Tai Lue"/>
                <a:cs typeface="Microsoft New Tai Lue"/>
              </a:rPr>
              <a:t>Availability</a:t>
            </a:r>
          </a:p>
          <a:p>
            <a:pPr algn="ctr"/>
            <a:r>
              <a:rPr lang="zh-CN" altLang="en-US" sz="912" b="1" dirty="0">
                <a:solidFill>
                  <a:srgbClr val="191919"/>
                </a:solidFill>
                <a:latin typeface="Microsoft New Tai Lue"/>
                <a:ea typeface="Microsoft New Tai Lue"/>
                <a:cs typeface="Microsoft New Tai Lue"/>
              </a:rPr>
              <a:t>99.6%</a:t>
            </a:r>
          </a:p>
        </p:txBody>
      </p:sp>
      <p:sp>
        <p:nvSpPr>
          <p:cNvPr id="120" name="Process"/>
          <p:cNvSpPr/>
          <p:nvPr/>
        </p:nvSpPr>
        <p:spPr>
          <a:xfrm>
            <a:off x="4097000" y="-222800"/>
            <a:ext cx="1147600" cy="688560"/>
          </a:xfrm>
          <a:custGeom>
            <a:avLst/>
            <a:gdLst>
              <a:gd name="connsiteX0" fmla="*/ 0 w 1147600"/>
              <a:gd name="connsiteY0" fmla="*/ 344280 h 688560"/>
              <a:gd name="connsiteX1" fmla="*/ 573800 w 1147600"/>
              <a:gd name="connsiteY1" fmla="*/ 0 h 688560"/>
              <a:gd name="connsiteX2" fmla="*/ 1147600 w 1147600"/>
              <a:gd name="connsiteY2" fmla="*/ 344280 h 688560"/>
              <a:gd name="connsiteX3" fmla="*/ 573800 w 1147600"/>
              <a:gd name="connsiteY3" fmla="*/ 688560 h 688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7600" h="688560" stroke="0">
                <a:moveTo>
                  <a:pt x="1147600" y="635360"/>
                </a:moveTo>
                <a:lnTo>
                  <a:pt x="1147600" y="53200"/>
                </a:lnTo>
                <a:cubicBezTo>
                  <a:pt x="1147600" y="23834"/>
                  <a:pt x="1123766" y="0"/>
                  <a:pt x="1094400" y="0"/>
                </a:cubicBezTo>
                <a:lnTo>
                  <a:pt x="53200" y="0"/>
                </a:lnTo>
                <a:cubicBezTo>
                  <a:pt x="23834" y="0"/>
                  <a:pt x="0" y="23834"/>
                  <a:pt x="0" y="53200"/>
                </a:cubicBezTo>
                <a:lnTo>
                  <a:pt x="0" y="635360"/>
                </a:lnTo>
                <a:cubicBezTo>
                  <a:pt x="0" y="664726"/>
                  <a:pt x="23834" y="688560"/>
                  <a:pt x="53200" y="688560"/>
                </a:cubicBezTo>
                <a:lnTo>
                  <a:pt x="1094400" y="688560"/>
                </a:lnTo>
                <a:cubicBezTo>
                  <a:pt x="1123766" y="688560"/>
                  <a:pt x="1147600" y="664726"/>
                  <a:pt x="1147600" y="635360"/>
                </a:cubicBezTo>
                <a:close/>
              </a:path>
              <a:path w="1147600" h="688560" fill="none">
                <a:moveTo>
                  <a:pt x="1147600" y="635360"/>
                </a:moveTo>
                <a:lnTo>
                  <a:pt x="1147600" y="53200"/>
                </a:lnTo>
                <a:cubicBezTo>
                  <a:pt x="1147600" y="23834"/>
                  <a:pt x="1123766" y="0"/>
                  <a:pt x="1094400" y="0"/>
                </a:cubicBezTo>
                <a:lnTo>
                  <a:pt x="53200" y="0"/>
                </a:lnTo>
                <a:cubicBezTo>
                  <a:pt x="23834" y="0"/>
                  <a:pt x="0" y="23834"/>
                  <a:pt x="0" y="53200"/>
                </a:cubicBezTo>
                <a:lnTo>
                  <a:pt x="0" y="635360"/>
                </a:lnTo>
                <a:cubicBezTo>
                  <a:pt x="0" y="664726"/>
                  <a:pt x="23834" y="688560"/>
                  <a:pt x="53200" y="688560"/>
                </a:cubicBezTo>
                <a:lnTo>
                  <a:pt x="1094400" y="688560"/>
                </a:lnTo>
                <a:cubicBezTo>
                  <a:pt x="1123766" y="688560"/>
                  <a:pt x="1147600" y="664726"/>
                  <a:pt x="1147600" y="635360"/>
                </a:cubicBezTo>
                <a:close/>
              </a:path>
            </a:pathLst>
          </a:custGeom>
          <a:solidFill>
            <a:srgbClr val="92D050"/>
          </a:solidFill>
          <a:ln w="7600" cap="flat">
            <a:solidFill>
              <a:srgbClr val="101843"/>
            </a:solidFill>
            <a:round/>
          </a:ln>
        </p:spPr>
        <p:txBody>
          <a:bodyPr wrap="square" lIns="38100" tIns="38100" rIns="38100" bIns="38100" rtlCol="0" anchor="ctr"/>
          <a:lstStyle/>
          <a:p>
            <a:pPr algn="ctr"/>
            <a:r>
              <a:rPr lang="zh-CN" altLang="en-US" sz="912" b="1" dirty="0">
                <a:solidFill>
                  <a:srgbClr val="191919"/>
                </a:solidFill>
                <a:latin typeface="Microsoft New Tai Lue"/>
                <a:ea typeface="Microsoft New Tai Lue"/>
                <a:cs typeface="Microsoft New Tai Lue"/>
              </a:rPr>
              <a:t>Availability</a:t>
            </a:r>
          </a:p>
          <a:p>
            <a:pPr algn="ctr"/>
            <a:r>
              <a:rPr lang="zh-CN" altLang="en-US" sz="912" b="1" dirty="0">
                <a:solidFill>
                  <a:srgbClr val="191919"/>
                </a:solidFill>
                <a:latin typeface="Microsoft New Tai Lue"/>
                <a:ea typeface="Microsoft New Tai Lue"/>
                <a:cs typeface="Microsoft New Tai Lue"/>
              </a:rPr>
              <a:t>99.6%</a:t>
            </a:r>
          </a:p>
        </p:txBody>
      </p:sp>
      <p:sp>
        <p:nvSpPr>
          <p:cNvPr id="121" name="Process"/>
          <p:cNvSpPr/>
          <p:nvPr/>
        </p:nvSpPr>
        <p:spPr>
          <a:xfrm>
            <a:off x="5389000" y="-222800"/>
            <a:ext cx="1147600" cy="688560"/>
          </a:xfrm>
          <a:custGeom>
            <a:avLst/>
            <a:gdLst>
              <a:gd name="connsiteX0" fmla="*/ 0 w 1147600"/>
              <a:gd name="connsiteY0" fmla="*/ 344280 h 688560"/>
              <a:gd name="connsiteX1" fmla="*/ 573800 w 1147600"/>
              <a:gd name="connsiteY1" fmla="*/ 0 h 688560"/>
              <a:gd name="connsiteX2" fmla="*/ 1147600 w 1147600"/>
              <a:gd name="connsiteY2" fmla="*/ 344280 h 688560"/>
              <a:gd name="connsiteX3" fmla="*/ 573800 w 1147600"/>
              <a:gd name="connsiteY3" fmla="*/ 688560 h 688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7600" h="688560" stroke="0">
                <a:moveTo>
                  <a:pt x="1147600" y="635360"/>
                </a:moveTo>
                <a:lnTo>
                  <a:pt x="1147600" y="53200"/>
                </a:lnTo>
                <a:cubicBezTo>
                  <a:pt x="1147600" y="23834"/>
                  <a:pt x="1123766" y="0"/>
                  <a:pt x="1094400" y="0"/>
                </a:cubicBezTo>
                <a:lnTo>
                  <a:pt x="53200" y="0"/>
                </a:lnTo>
                <a:cubicBezTo>
                  <a:pt x="23834" y="0"/>
                  <a:pt x="0" y="23834"/>
                  <a:pt x="0" y="53200"/>
                </a:cubicBezTo>
                <a:lnTo>
                  <a:pt x="0" y="635360"/>
                </a:lnTo>
                <a:cubicBezTo>
                  <a:pt x="0" y="664726"/>
                  <a:pt x="23834" y="688560"/>
                  <a:pt x="53200" y="688560"/>
                </a:cubicBezTo>
                <a:lnTo>
                  <a:pt x="1094400" y="688560"/>
                </a:lnTo>
                <a:cubicBezTo>
                  <a:pt x="1123766" y="688560"/>
                  <a:pt x="1147600" y="664726"/>
                  <a:pt x="1147600" y="635360"/>
                </a:cubicBezTo>
                <a:close/>
              </a:path>
              <a:path w="1147600" h="688560" fill="none">
                <a:moveTo>
                  <a:pt x="1147600" y="635360"/>
                </a:moveTo>
                <a:lnTo>
                  <a:pt x="1147600" y="53200"/>
                </a:lnTo>
                <a:cubicBezTo>
                  <a:pt x="1147600" y="23834"/>
                  <a:pt x="1123766" y="0"/>
                  <a:pt x="1094400" y="0"/>
                </a:cubicBezTo>
                <a:lnTo>
                  <a:pt x="53200" y="0"/>
                </a:lnTo>
                <a:cubicBezTo>
                  <a:pt x="23834" y="0"/>
                  <a:pt x="0" y="23834"/>
                  <a:pt x="0" y="53200"/>
                </a:cubicBezTo>
                <a:lnTo>
                  <a:pt x="0" y="635360"/>
                </a:lnTo>
                <a:cubicBezTo>
                  <a:pt x="0" y="664726"/>
                  <a:pt x="23834" y="688560"/>
                  <a:pt x="53200" y="688560"/>
                </a:cubicBezTo>
                <a:lnTo>
                  <a:pt x="1094400" y="688560"/>
                </a:lnTo>
                <a:cubicBezTo>
                  <a:pt x="1123766" y="688560"/>
                  <a:pt x="1147600" y="664726"/>
                  <a:pt x="1147600" y="635360"/>
                </a:cubicBezTo>
                <a:close/>
              </a:path>
            </a:pathLst>
          </a:custGeom>
          <a:solidFill>
            <a:srgbClr val="92D050"/>
          </a:solidFill>
          <a:ln w="7600" cap="flat">
            <a:solidFill>
              <a:srgbClr val="101843"/>
            </a:solidFill>
            <a:round/>
          </a:ln>
        </p:spPr>
        <p:txBody>
          <a:bodyPr wrap="square" lIns="38100" tIns="38100" rIns="38100" bIns="38100" rtlCol="0" anchor="ctr"/>
          <a:lstStyle/>
          <a:p>
            <a:pPr algn="ctr"/>
            <a:r>
              <a:rPr lang="zh-CN" altLang="en-US" sz="912" b="1" dirty="0">
                <a:solidFill>
                  <a:srgbClr val="191919"/>
                </a:solidFill>
                <a:latin typeface="Microsoft New Tai Lue"/>
                <a:ea typeface="Microsoft New Tai Lue"/>
                <a:cs typeface="Microsoft New Tai Lue"/>
              </a:rPr>
              <a:t>Availability</a:t>
            </a:r>
          </a:p>
          <a:p>
            <a:pPr algn="ctr"/>
            <a:r>
              <a:rPr lang="zh-CN" altLang="en-US" sz="912" b="1" dirty="0">
                <a:solidFill>
                  <a:srgbClr val="191919"/>
                </a:solidFill>
                <a:latin typeface="Microsoft New Tai Lue"/>
                <a:ea typeface="Microsoft New Tai Lue"/>
                <a:cs typeface="Microsoft New Tai Lue"/>
              </a:rPr>
              <a:t>99.6%</a:t>
            </a:r>
          </a:p>
        </p:txBody>
      </p:sp>
      <p:sp>
        <p:nvSpPr>
          <p:cNvPr id="122" name="Process"/>
          <p:cNvSpPr/>
          <p:nvPr/>
        </p:nvSpPr>
        <p:spPr>
          <a:xfrm>
            <a:off x="2805000" y="740120"/>
            <a:ext cx="1147600" cy="688560"/>
          </a:xfrm>
          <a:custGeom>
            <a:avLst/>
            <a:gdLst>
              <a:gd name="connsiteX0" fmla="*/ 0 w 1147600"/>
              <a:gd name="connsiteY0" fmla="*/ 344280 h 688560"/>
              <a:gd name="connsiteX1" fmla="*/ 573800 w 1147600"/>
              <a:gd name="connsiteY1" fmla="*/ 0 h 688560"/>
              <a:gd name="connsiteX2" fmla="*/ 1147600 w 1147600"/>
              <a:gd name="connsiteY2" fmla="*/ 344280 h 688560"/>
              <a:gd name="connsiteX3" fmla="*/ 573800 w 1147600"/>
              <a:gd name="connsiteY3" fmla="*/ 688560 h 688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7600" h="688560" stroke="0">
                <a:moveTo>
                  <a:pt x="1147600" y="635360"/>
                </a:moveTo>
                <a:lnTo>
                  <a:pt x="1147600" y="53200"/>
                </a:lnTo>
                <a:cubicBezTo>
                  <a:pt x="1147600" y="23834"/>
                  <a:pt x="1123766" y="0"/>
                  <a:pt x="1094400" y="0"/>
                </a:cubicBezTo>
                <a:lnTo>
                  <a:pt x="53200" y="0"/>
                </a:lnTo>
                <a:cubicBezTo>
                  <a:pt x="23834" y="0"/>
                  <a:pt x="0" y="23834"/>
                  <a:pt x="0" y="53200"/>
                </a:cubicBezTo>
                <a:lnTo>
                  <a:pt x="0" y="635360"/>
                </a:lnTo>
                <a:cubicBezTo>
                  <a:pt x="0" y="664726"/>
                  <a:pt x="23834" y="688560"/>
                  <a:pt x="53200" y="688560"/>
                </a:cubicBezTo>
                <a:lnTo>
                  <a:pt x="1094400" y="688560"/>
                </a:lnTo>
                <a:cubicBezTo>
                  <a:pt x="1123766" y="688560"/>
                  <a:pt x="1147600" y="664726"/>
                  <a:pt x="1147600" y="635360"/>
                </a:cubicBezTo>
                <a:close/>
              </a:path>
              <a:path w="1147600" h="688560" fill="none">
                <a:moveTo>
                  <a:pt x="1147600" y="635360"/>
                </a:moveTo>
                <a:lnTo>
                  <a:pt x="1147600" y="53200"/>
                </a:lnTo>
                <a:cubicBezTo>
                  <a:pt x="1147600" y="23834"/>
                  <a:pt x="1123766" y="0"/>
                  <a:pt x="1094400" y="0"/>
                </a:cubicBezTo>
                <a:lnTo>
                  <a:pt x="53200" y="0"/>
                </a:lnTo>
                <a:cubicBezTo>
                  <a:pt x="23834" y="0"/>
                  <a:pt x="0" y="23834"/>
                  <a:pt x="0" y="53200"/>
                </a:cubicBezTo>
                <a:lnTo>
                  <a:pt x="0" y="635360"/>
                </a:lnTo>
                <a:cubicBezTo>
                  <a:pt x="0" y="664726"/>
                  <a:pt x="23834" y="688560"/>
                  <a:pt x="53200" y="688560"/>
                </a:cubicBezTo>
                <a:lnTo>
                  <a:pt x="1094400" y="688560"/>
                </a:lnTo>
                <a:cubicBezTo>
                  <a:pt x="1123766" y="688560"/>
                  <a:pt x="1147600" y="664726"/>
                  <a:pt x="1147600" y="635360"/>
                </a:cubicBezTo>
                <a:close/>
              </a:path>
            </a:pathLst>
          </a:custGeom>
          <a:solidFill>
            <a:srgbClr val="92D050"/>
          </a:solidFill>
          <a:ln w="7600" cap="flat">
            <a:solidFill>
              <a:srgbClr val="101843"/>
            </a:solidFill>
            <a:round/>
          </a:ln>
        </p:spPr>
        <p:txBody>
          <a:bodyPr wrap="square" lIns="38100" tIns="38100" rIns="38100" bIns="38100" rtlCol="0" anchor="ctr"/>
          <a:lstStyle/>
          <a:p>
            <a:pPr algn="ctr"/>
            <a:r>
              <a:rPr lang="zh-CN" altLang="en-US" sz="912" b="1" dirty="0">
                <a:solidFill>
                  <a:srgbClr val="191919"/>
                </a:solidFill>
                <a:latin typeface="Microsoft New Tai Lue"/>
                <a:ea typeface="Microsoft New Tai Lue"/>
                <a:cs typeface="Microsoft New Tai Lue"/>
              </a:rPr>
              <a:t>Availability</a:t>
            </a:r>
          </a:p>
          <a:p>
            <a:pPr algn="ctr"/>
            <a:r>
              <a:rPr lang="zh-CN" altLang="en-US" sz="912" b="1" dirty="0">
                <a:solidFill>
                  <a:srgbClr val="191919"/>
                </a:solidFill>
                <a:latin typeface="Microsoft New Tai Lue"/>
                <a:ea typeface="Microsoft New Tai Lue"/>
                <a:cs typeface="Microsoft New Tai Lue"/>
              </a:rPr>
              <a:t>99.6%</a:t>
            </a:r>
          </a:p>
        </p:txBody>
      </p:sp>
      <p:sp>
        <p:nvSpPr>
          <p:cNvPr id="123" name="Process"/>
          <p:cNvSpPr/>
          <p:nvPr/>
        </p:nvSpPr>
        <p:spPr>
          <a:xfrm>
            <a:off x="4097000" y="740120"/>
            <a:ext cx="1147600" cy="688560"/>
          </a:xfrm>
          <a:custGeom>
            <a:avLst/>
            <a:gdLst>
              <a:gd name="connsiteX0" fmla="*/ 0 w 1147600"/>
              <a:gd name="connsiteY0" fmla="*/ 344280 h 688560"/>
              <a:gd name="connsiteX1" fmla="*/ 573800 w 1147600"/>
              <a:gd name="connsiteY1" fmla="*/ 0 h 688560"/>
              <a:gd name="connsiteX2" fmla="*/ 1147600 w 1147600"/>
              <a:gd name="connsiteY2" fmla="*/ 344280 h 688560"/>
              <a:gd name="connsiteX3" fmla="*/ 573800 w 1147600"/>
              <a:gd name="connsiteY3" fmla="*/ 688560 h 688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7600" h="688560" stroke="0">
                <a:moveTo>
                  <a:pt x="1147600" y="635360"/>
                </a:moveTo>
                <a:lnTo>
                  <a:pt x="1147600" y="53200"/>
                </a:lnTo>
                <a:cubicBezTo>
                  <a:pt x="1147600" y="23834"/>
                  <a:pt x="1123766" y="0"/>
                  <a:pt x="1094400" y="0"/>
                </a:cubicBezTo>
                <a:lnTo>
                  <a:pt x="53200" y="0"/>
                </a:lnTo>
                <a:cubicBezTo>
                  <a:pt x="23834" y="0"/>
                  <a:pt x="0" y="23834"/>
                  <a:pt x="0" y="53200"/>
                </a:cubicBezTo>
                <a:lnTo>
                  <a:pt x="0" y="635360"/>
                </a:lnTo>
                <a:cubicBezTo>
                  <a:pt x="0" y="664726"/>
                  <a:pt x="23834" y="688560"/>
                  <a:pt x="53200" y="688560"/>
                </a:cubicBezTo>
                <a:lnTo>
                  <a:pt x="1094400" y="688560"/>
                </a:lnTo>
                <a:cubicBezTo>
                  <a:pt x="1123766" y="688560"/>
                  <a:pt x="1147600" y="664726"/>
                  <a:pt x="1147600" y="635360"/>
                </a:cubicBezTo>
                <a:close/>
              </a:path>
              <a:path w="1147600" h="688560" fill="none">
                <a:moveTo>
                  <a:pt x="1147600" y="635360"/>
                </a:moveTo>
                <a:lnTo>
                  <a:pt x="1147600" y="53200"/>
                </a:lnTo>
                <a:cubicBezTo>
                  <a:pt x="1147600" y="23834"/>
                  <a:pt x="1123766" y="0"/>
                  <a:pt x="1094400" y="0"/>
                </a:cubicBezTo>
                <a:lnTo>
                  <a:pt x="53200" y="0"/>
                </a:lnTo>
                <a:cubicBezTo>
                  <a:pt x="23834" y="0"/>
                  <a:pt x="0" y="23834"/>
                  <a:pt x="0" y="53200"/>
                </a:cubicBezTo>
                <a:lnTo>
                  <a:pt x="0" y="635360"/>
                </a:lnTo>
                <a:cubicBezTo>
                  <a:pt x="0" y="664726"/>
                  <a:pt x="23834" y="688560"/>
                  <a:pt x="53200" y="688560"/>
                </a:cubicBezTo>
                <a:lnTo>
                  <a:pt x="1094400" y="688560"/>
                </a:lnTo>
                <a:cubicBezTo>
                  <a:pt x="1123766" y="688560"/>
                  <a:pt x="1147600" y="664726"/>
                  <a:pt x="1147600" y="635360"/>
                </a:cubicBezTo>
                <a:close/>
              </a:path>
            </a:pathLst>
          </a:custGeom>
          <a:solidFill>
            <a:srgbClr val="FFFF00"/>
          </a:solidFill>
          <a:ln w="7600" cap="flat">
            <a:solidFill>
              <a:srgbClr val="101843"/>
            </a:solidFill>
            <a:round/>
          </a:ln>
        </p:spPr>
        <p:txBody>
          <a:bodyPr wrap="square" lIns="38100" tIns="38100" rIns="38100" bIns="38100" rtlCol="0" anchor="ctr"/>
          <a:lstStyle/>
          <a:p>
            <a:pPr algn="ctr"/>
            <a:r>
              <a:rPr lang="zh-CN" altLang="en-US" sz="912" b="1" dirty="0">
                <a:solidFill>
                  <a:srgbClr val="191919"/>
                </a:solidFill>
                <a:latin typeface="Microsoft New Tai Lue"/>
                <a:ea typeface="Microsoft New Tai Lue"/>
                <a:cs typeface="Microsoft New Tai Lue"/>
              </a:rPr>
              <a:t>Availability</a:t>
            </a:r>
          </a:p>
          <a:p>
            <a:pPr algn="ctr"/>
            <a:r>
              <a:rPr lang="zh-CN" altLang="en-US" sz="912" b="1" dirty="0">
                <a:solidFill>
                  <a:srgbClr val="191919"/>
                </a:solidFill>
                <a:latin typeface="Microsoft New Tai Lue"/>
                <a:ea typeface="Microsoft New Tai Lue"/>
                <a:cs typeface="Microsoft New Tai Lue"/>
              </a:rPr>
              <a:t>98.6%</a:t>
            </a:r>
          </a:p>
        </p:txBody>
      </p:sp>
      <p:sp>
        <p:nvSpPr>
          <p:cNvPr id="124" name="Process"/>
          <p:cNvSpPr/>
          <p:nvPr/>
        </p:nvSpPr>
        <p:spPr>
          <a:xfrm>
            <a:off x="5389000" y="740120"/>
            <a:ext cx="1147600" cy="688560"/>
          </a:xfrm>
          <a:custGeom>
            <a:avLst/>
            <a:gdLst>
              <a:gd name="connsiteX0" fmla="*/ 0 w 1147600"/>
              <a:gd name="connsiteY0" fmla="*/ 344280 h 688560"/>
              <a:gd name="connsiteX1" fmla="*/ 573800 w 1147600"/>
              <a:gd name="connsiteY1" fmla="*/ 0 h 688560"/>
              <a:gd name="connsiteX2" fmla="*/ 1147600 w 1147600"/>
              <a:gd name="connsiteY2" fmla="*/ 344280 h 688560"/>
              <a:gd name="connsiteX3" fmla="*/ 573800 w 1147600"/>
              <a:gd name="connsiteY3" fmla="*/ 688560 h 688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7600" h="688560" stroke="0">
                <a:moveTo>
                  <a:pt x="1147600" y="635360"/>
                </a:moveTo>
                <a:lnTo>
                  <a:pt x="1147600" y="53200"/>
                </a:lnTo>
                <a:cubicBezTo>
                  <a:pt x="1147600" y="23834"/>
                  <a:pt x="1123766" y="0"/>
                  <a:pt x="1094400" y="0"/>
                </a:cubicBezTo>
                <a:lnTo>
                  <a:pt x="53200" y="0"/>
                </a:lnTo>
                <a:cubicBezTo>
                  <a:pt x="23834" y="0"/>
                  <a:pt x="0" y="23834"/>
                  <a:pt x="0" y="53200"/>
                </a:cubicBezTo>
                <a:lnTo>
                  <a:pt x="0" y="635360"/>
                </a:lnTo>
                <a:cubicBezTo>
                  <a:pt x="0" y="664726"/>
                  <a:pt x="23834" y="688560"/>
                  <a:pt x="53200" y="688560"/>
                </a:cubicBezTo>
                <a:lnTo>
                  <a:pt x="1094400" y="688560"/>
                </a:lnTo>
                <a:cubicBezTo>
                  <a:pt x="1123766" y="688560"/>
                  <a:pt x="1147600" y="664726"/>
                  <a:pt x="1147600" y="635360"/>
                </a:cubicBezTo>
                <a:close/>
              </a:path>
              <a:path w="1147600" h="688560" fill="none">
                <a:moveTo>
                  <a:pt x="1147600" y="635360"/>
                </a:moveTo>
                <a:lnTo>
                  <a:pt x="1147600" y="53200"/>
                </a:lnTo>
                <a:cubicBezTo>
                  <a:pt x="1147600" y="23834"/>
                  <a:pt x="1123766" y="0"/>
                  <a:pt x="1094400" y="0"/>
                </a:cubicBezTo>
                <a:lnTo>
                  <a:pt x="53200" y="0"/>
                </a:lnTo>
                <a:cubicBezTo>
                  <a:pt x="23834" y="0"/>
                  <a:pt x="0" y="23834"/>
                  <a:pt x="0" y="53200"/>
                </a:cubicBezTo>
                <a:lnTo>
                  <a:pt x="0" y="635360"/>
                </a:lnTo>
                <a:cubicBezTo>
                  <a:pt x="0" y="664726"/>
                  <a:pt x="23834" y="688560"/>
                  <a:pt x="53200" y="688560"/>
                </a:cubicBezTo>
                <a:lnTo>
                  <a:pt x="1094400" y="688560"/>
                </a:lnTo>
                <a:cubicBezTo>
                  <a:pt x="1123766" y="688560"/>
                  <a:pt x="1147600" y="664726"/>
                  <a:pt x="1147600" y="635360"/>
                </a:cubicBezTo>
                <a:close/>
              </a:path>
            </a:pathLst>
          </a:custGeom>
          <a:solidFill>
            <a:srgbClr val="92D050"/>
          </a:solidFill>
          <a:ln w="7600" cap="flat">
            <a:solidFill>
              <a:srgbClr val="101843"/>
            </a:solidFill>
            <a:round/>
          </a:ln>
        </p:spPr>
        <p:txBody>
          <a:bodyPr wrap="square" lIns="38100" tIns="38100" rIns="38100" bIns="38100" rtlCol="0" anchor="ctr"/>
          <a:lstStyle/>
          <a:p>
            <a:pPr algn="ctr"/>
            <a:r>
              <a:rPr lang="zh-CN" altLang="en-US" sz="912" b="1" dirty="0">
                <a:solidFill>
                  <a:srgbClr val="191919"/>
                </a:solidFill>
                <a:latin typeface="Microsoft New Tai Lue"/>
                <a:ea typeface="Microsoft New Tai Lue"/>
                <a:cs typeface="Microsoft New Tai Lue"/>
              </a:rPr>
              <a:t>Availability</a:t>
            </a:r>
          </a:p>
          <a:p>
            <a:pPr algn="ctr"/>
            <a:r>
              <a:rPr lang="zh-CN" altLang="en-US" sz="912" b="1" dirty="0">
                <a:solidFill>
                  <a:srgbClr val="191919"/>
                </a:solidFill>
                <a:latin typeface="Microsoft New Tai Lue"/>
                <a:ea typeface="Microsoft New Tai Lue"/>
                <a:cs typeface="Microsoft New Tai Lue"/>
              </a:rPr>
              <a:t>99.6%</a:t>
            </a:r>
          </a:p>
        </p:txBody>
      </p:sp>
      <p:sp>
        <p:nvSpPr>
          <p:cNvPr id="125" name="Rectangle"/>
          <p:cNvSpPr/>
          <p:nvPr/>
        </p:nvSpPr>
        <p:spPr>
          <a:xfrm>
            <a:off x="2896200" y="483434"/>
            <a:ext cx="912000" cy="258400"/>
          </a:xfrm>
          <a:custGeom>
            <a:avLst/>
            <a:gdLst/>
            <a:ahLst/>
            <a:cxnLst/>
            <a:rect l="l" t="t" r="r" b="b"/>
            <a:pathLst>
              <a:path w="912000" h="258400" stroke="0">
                <a:moveTo>
                  <a:pt x="0" y="0"/>
                </a:moveTo>
                <a:lnTo>
                  <a:pt x="912000" y="0"/>
                </a:lnTo>
                <a:lnTo>
                  <a:pt x="912000" y="258400"/>
                </a:lnTo>
                <a:lnTo>
                  <a:pt x="0" y="258400"/>
                </a:lnTo>
                <a:lnTo>
                  <a:pt x="0" y="0"/>
                </a:lnTo>
                <a:close/>
              </a:path>
              <a:path w="912000" h="258400" fill="none">
                <a:moveTo>
                  <a:pt x="0" y="0"/>
                </a:moveTo>
                <a:lnTo>
                  <a:pt x="912000" y="0"/>
                </a:lnTo>
                <a:lnTo>
                  <a:pt x="912000" y="258400"/>
                </a:lnTo>
                <a:lnTo>
                  <a:pt x="0" y="258400"/>
                </a:lnTo>
                <a:lnTo>
                  <a:pt x="0" y="0"/>
                </a:lnTo>
                <a:close/>
              </a:path>
            </a:pathLst>
          </a:custGeom>
          <a:noFill/>
          <a:ln w="7600" cap="flat">
            <a:noFill/>
            <a:miter/>
          </a:ln>
        </p:spPr>
        <p:txBody>
          <a:bodyPr wrap="square" lIns="38100" tIns="38100" rIns="38100" bIns="38100" rtlCol="0" anchor="ctr"/>
          <a:lstStyle/>
          <a:p>
            <a:pPr algn="ctr"/>
            <a:r>
              <a:rPr lang="zh-CN" altLang="en-US" sz="912" b="1" u="sng" dirty="0">
                <a:solidFill>
                  <a:srgbClr val="191919"/>
                </a:solidFill>
                <a:latin typeface="Microsoft New Tai Lue"/>
                <a:ea typeface="Microsoft New Tai Lue"/>
                <a:cs typeface="Microsoft New Tai Lue"/>
              </a:rPr>
              <a:t>MOD</a:t>
            </a:r>
          </a:p>
        </p:txBody>
      </p:sp>
      <p:sp>
        <p:nvSpPr>
          <p:cNvPr id="126" name="Rectangle"/>
          <p:cNvSpPr/>
          <p:nvPr/>
        </p:nvSpPr>
        <p:spPr>
          <a:xfrm>
            <a:off x="4142600" y="483434"/>
            <a:ext cx="912000" cy="258400"/>
          </a:xfrm>
          <a:custGeom>
            <a:avLst/>
            <a:gdLst/>
            <a:ahLst/>
            <a:cxnLst/>
            <a:rect l="l" t="t" r="r" b="b"/>
            <a:pathLst>
              <a:path w="912000" h="258400" stroke="0">
                <a:moveTo>
                  <a:pt x="0" y="0"/>
                </a:moveTo>
                <a:lnTo>
                  <a:pt x="912000" y="0"/>
                </a:lnTo>
                <a:lnTo>
                  <a:pt x="912000" y="258400"/>
                </a:lnTo>
                <a:lnTo>
                  <a:pt x="0" y="258400"/>
                </a:lnTo>
                <a:lnTo>
                  <a:pt x="0" y="0"/>
                </a:lnTo>
                <a:close/>
              </a:path>
              <a:path w="912000" h="258400" fill="none">
                <a:moveTo>
                  <a:pt x="0" y="0"/>
                </a:moveTo>
                <a:lnTo>
                  <a:pt x="912000" y="0"/>
                </a:lnTo>
                <a:lnTo>
                  <a:pt x="912000" y="258400"/>
                </a:lnTo>
                <a:lnTo>
                  <a:pt x="0" y="258400"/>
                </a:lnTo>
                <a:lnTo>
                  <a:pt x="0" y="0"/>
                </a:lnTo>
                <a:close/>
              </a:path>
            </a:pathLst>
          </a:custGeom>
          <a:noFill/>
          <a:ln w="7600" cap="flat">
            <a:noFill/>
            <a:miter/>
          </a:ln>
        </p:spPr>
        <p:txBody>
          <a:bodyPr wrap="square" lIns="38100" tIns="38100" rIns="38100" bIns="38100" rtlCol="0" anchor="ctr"/>
          <a:lstStyle/>
          <a:p>
            <a:pPr algn="ctr"/>
            <a:r>
              <a:rPr lang="zh-CN" altLang="en-US" sz="912" b="1" u="sng" dirty="0">
                <a:solidFill>
                  <a:srgbClr val="191919"/>
                </a:solidFill>
                <a:latin typeface="Microsoft New Tai Lue"/>
                <a:ea typeface="Microsoft New Tai Lue"/>
                <a:cs typeface="Microsoft New Tai Lue"/>
              </a:rPr>
              <a:t>MTPL</a:t>
            </a:r>
          </a:p>
        </p:txBody>
      </p:sp>
      <p:sp>
        <p:nvSpPr>
          <p:cNvPr id="127" name="Rectangle"/>
          <p:cNvSpPr/>
          <p:nvPr/>
        </p:nvSpPr>
        <p:spPr>
          <a:xfrm>
            <a:off x="5533400" y="482291"/>
            <a:ext cx="912000" cy="258400"/>
          </a:xfrm>
          <a:custGeom>
            <a:avLst/>
            <a:gdLst/>
            <a:ahLst/>
            <a:cxnLst/>
            <a:rect l="l" t="t" r="r" b="b"/>
            <a:pathLst>
              <a:path w="912000" h="258400" stroke="0">
                <a:moveTo>
                  <a:pt x="0" y="0"/>
                </a:moveTo>
                <a:lnTo>
                  <a:pt x="912000" y="0"/>
                </a:lnTo>
                <a:lnTo>
                  <a:pt x="912000" y="258400"/>
                </a:lnTo>
                <a:lnTo>
                  <a:pt x="0" y="258400"/>
                </a:lnTo>
                <a:lnTo>
                  <a:pt x="0" y="0"/>
                </a:lnTo>
                <a:close/>
              </a:path>
              <a:path w="912000" h="258400" fill="none">
                <a:moveTo>
                  <a:pt x="0" y="0"/>
                </a:moveTo>
                <a:lnTo>
                  <a:pt x="912000" y="0"/>
                </a:lnTo>
                <a:lnTo>
                  <a:pt x="912000" y="258400"/>
                </a:lnTo>
                <a:lnTo>
                  <a:pt x="0" y="258400"/>
                </a:lnTo>
                <a:lnTo>
                  <a:pt x="0" y="0"/>
                </a:lnTo>
                <a:close/>
              </a:path>
            </a:pathLst>
          </a:custGeom>
          <a:noFill/>
          <a:ln w="7600" cap="flat">
            <a:noFill/>
            <a:miter/>
          </a:ln>
        </p:spPr>
        <p:txBody>
          <a:bodyPr wrap="square" lIns="38100" tIns="38100" rIns="38100" bIns="38100" rtlCol="0" anchor="ctr"/>
          <a:lstStyle/>
          <a:p>
            <a:pPr algn="ctr"/>
            <a:r>
              <a:rPr lang="zh-CN" altLang="en-US" sz="912" b="1" u="sng" dirty="0">
                <a:solidFill>
                  <a:srgbClr val="191919"/>
                </a:solidFill>
                <a:latin typeface="Microsoft New Tai Lue"/>
                <a:ea typeface="Microsoft New Tai Lue"/>
                <a:cs typeface="Microsoft New Tai Lue"/>
              </a:rPr>
              <a:t>FIRE</a:t>
            </a:r>
          </a:p>
        </p:txBody>
      </p:sp>
      <p:sp>
        <p:nvSpPr>
          <p:cNvPr id="128" name="Rectangle"/>
          <p:cNvSpPr/>
          <p:nvPr/>
        </p:nvSpPr>
        <p:spPr>
          <a:xfrm>
            <a:off x="2730900" y="1338628"/>
            <a:ext cx="1295800" cy="440800"/>
          </a:xfrm>
          <a:custGeom>
            <a:avLst/>
            <a:gdLst/>
            <a:ahLst/>
            <a:cxnLst/>
            <a:rect l="l" t="t" r="r" b="b"/>
            <a:pathLst>
              <a:path w="1295800" h="440800" stroke="0">
                <a:moveTo>
                  <a:pt x="0" y="0"/>
                </a:moveTo>
                <a:lnTo>
                  <a:pt x="1295800" y="0"/>
                </a:lnTo>
                <a:lnTo>
                  <a:pt x="1295800" y="440800"/>
                </a:lnTo>
                <a:lnTo>
                  <a:pt x="0" y="440800"/>
                </a:lnTo>
                <a:lnTo>
                  <a:pt x="0" y="0"/>
                </a:lnTo>
                <a:close/>
              </a:path>
              <a:path w="1295800" h="440800" fill="none">
                <a:moveTo>
                  <a:pt x="0" y="0"/>
                </a:moveTo>
                <a:lnTo>
                  <a:pt x="1295800" y="0"/>
                </a:lnTo>
                <a:lnTo>
                  <a:pt x="1295800" y="440800"/>
                </a:lnTo>
                <a:lnTo>
                  <a:pt x="0" y="440800"/>
                </a:lnTo>
                <a:lnTo>
                  <a:pt x="0" y="0"/>
                </a:lnTo>
                <a:close/>
              </a:path>
            </a:pathLst>
          </a:custGeom>
          <a:noFill/>
          <a:ln w="7600" cap="flat">
            <a:noFill/>
            <a:miter/>
          </a:ln>
        </p:spPr>
        <p:txBody>
          <a:bodyPr wrap="square" lIns="38100" tIns="38100" rIns="38100" bIns="38100" rtlCol="0" anchor="ctr"/>
          <a:lstStyle/>
          <a:p>
            <a:pPr algn="ctr"/>
            <a:r>
              <a:rPr lang="zh-CN" altLang="en-US" sz="912" b="1" u="sng" dirty="0">
                <a:solidFill>
                  <a:srgbClr val="191919"/>
                </a:solidFill>
                <a:latin typeface="Microsoft New Tai Lue"/>
                <a:ea typeface="Microsoft New Tai Lue"/>
                <a:cs typeface="Microsoft New Tai Lue"/>
              </a:rPr>
              <a:t>MODULAR HEALTH</a:t>
            </a:r>
          </a:p>
        </p:txBody>
      </p:sp>
      <p:sp>
        <p:nvSpPr>
          <p:cNvPr id="129" name="Rectangle"/>
          <p:cNvSpPr/>
          <p:nvPr/>
        </p:nvSpPr>
        <p:spPr>
          <a:xfrm>
            <a:off x="4045700" y="1338628"/>
            <a:ext cx="1295800" cy="440800"/>
          </a:xfrm>
          <a:custGeom>
            <a:avLst/>
            <a:gdLst/>
            <a:ahLst/>
            <a:cxnLst/>
            <a:rect l="l" t="t" r="r" b="b"/>
            <a:pathLst>
              <a:path w="1295800" h="440800" stroke="0">
                <a:moveTo>
                  <a:pt x="0" y="0"/>
                </a:moveTo>
                <a:lnTo>
                  <a:pt x="1295800" y="0"/>
                </a:lnTo>
                <a:lnTo>
                  <a:pt x="1295800" y="440800"/>
                </a:lnTo>
                <a:lnTo>
                  <a:pt x="0" y="440800"/>
                </a:lnTo>
                <a:lnTo>
                  <a:pt x="0" y="0"/>
                </a:lnTo>
                <a:close/>
              </a:path>
              <a:path w="1295800" h="440800" fill="none">
                <a:moveTo>
                  <a:pt x="0" y="0"/>
                </a:moveTo>
                <a:lnTo>
                  <a:pt x="1295800" y="0"/>
                </a:lnTo>
                <a:lnTo>
                  <a:pt x="1295800" y="440800"/>
                </a:lnTo>
                <a:lnTo>
                  <a:pt x="0" y="440800"/>
                </a:lnTo>
                <a:lnTo>
                  <a:pt x="0" y="0"/>
                </a:lnTo>
                <a:close/>
              </a:path>
            </a:pathLst>
          </a:custGeom>
          <a:noFill/>
          <a:ln w="7600" cap="flat">
            <a:noFill/>
            <a:miter/>
          </a:ln>
        </p:spPr>
        <p:txBody>
          <a:bodyPr wrap="square" lIns="38100" tIns="38100" rIns="38100" bIns="38100" rtlCol="0" anchor="ctr"/>
          <a:lstStyle/>
          <a:p>
            <a:pPr algn="ctr"/>
            <a:r>
              <a:rPr lang="zh-CN" altLang="en-US" sz="912" b="1" u="sng" dirty="0">
                <a:solidFill>
                  <a:srgbClr val="191919"/>
                </a:solidFill>
                <a:latin typeface="Microsoft New Tai Lue"/>
                <a:ea typeface="Microsoft New Tai Lue"/>
                <a:cs typeface="Microsoft New Tai Lue"/>
              </a:rPr>
              <a:t>CORPORATE HEALTH</a:t>
            </a:r>
          </a:p>
        </p:txBody>
      </p:sp>
      <p:sp>
        <p:nvSpPr>
          <p:cNvPr id="130" name="Rectangle"/>
          <p:cNvSpPr/>
          <p:nvPr/>
        </p:nvSpPr>
        <p:spPr>
          <a:xfrm>
            <a:off x="5400400" y="1338628"/>
            <a:ext cx="1147600" cy="440800"/>
          </a:xfrm>
          <a:custGeom>
            <a:avLst/>
            <a:gdLst/>
            <a:ahLst/>
            <a:cxnLst/>
            <a:rect l="l" t="t" r="r" b="b"/>
            <a:pathLst>
              <a:path w="1147600" h="440800" stroke="0">
                <a:moveTo>
                  <a:pt x="0" y="0"/>
                </a:moveTo>
                <a:lnTo>
                  <a:pt x="1147600" y="0"/>
                </a:lnTo>
                <a:lnTo>
                  <a:pt x="1147600" y="440800"/>
                </a:lnTo>
                <a:lnTo>
                  <a:pt x="0" y="440800"/>
                </a:lnTo>
                <a:lnTo>
                  <a:pt x="0" y="0"/>
                </a:lnTo>
                <a:close/>
              </a:path>
              <a:path w="1147600" h="440800" fill="none">
                <a:moveTo>
                  <a:pt x="0" y="0"/>
                </a:moveTo>
                <a:lnTo>
                  <a:pt x="1147600" y="0"/>
                </a:lnTo>
                <a:lnTo>
                  <a:pt x="1147600" y="440800"/>
                </a:lnTo>
                <a:lnTo>
                  <a:pt x="0" y="440800"/>
                </a:lnTo>
                <a:lnTo>
                  <a:pt x="0" y="0"/>
                </a:lnTo>
                <a:close/>
              </a:path>
            </a:pathLst>
          </a:custGeom>
          <a:noFill/>
          <a:ln w="7600" cap="flat">
            <a:noFill/>
            <a:miter/>
          </a:ln>
        </p:spPr>
        <p:txBody>
          <a:bodyPr wrap="square" lIns="38100" tIns="38100" rIns="38100" bIns="38100" rtlCol="0" anchor="ctr"/>
          <a:lstStyle/>
          <a:p>
            <a:pPr algn="ctr"/>
            <a:r>
              <a:rPr lang="zh-CN" altLang="en-US" sz="912" b="1" u="sng" dirty="0">
                <a:solidFill>
                  <a:srgbClr val="191919"/>
                </a:solidFill>
                <a:latin typeface="Microsoft New Tai Lue"/>
                <a:ea typeface="Microsoft New Tai Lue"/>
                <a:cs typeface="Microsoft New Tai Lue"/>
              </a:rPr>
              <a:t>BANK INSURANCE</a:t>
            </a:r>
          </a:p>
        </p:txBody>
      </p:sp>
      <p:sp>
        <p:nvSpPr>
          <p:cNvPr id="132" name="Rectangle"/>
          <p:cNvSpPr/>
          <p:nvPr/>
        </p:nvSpPr>
        <p:spPr>
          <a:xfrm>
            <a:off x="1129200" y="-823200"/>
            <a:ext cx="2515600" cy="600400"/>
          </a:xfrm>
          <a:custGeom>
            <a:avLst/>
            <a:gdLst/>
            <a:ahLst/>
            <a:cxnLst/>
            <a:rect l="l" t="t" r="r" b="b"/>
            <a:pathLst>
              <a:path w="2515600" h="600400" stroke="0">
                <a:moveTo>
                  <a:pt x="0" y="0"/>
                </a:moveTo>
                <a:lnTo>
                  <a:pt x="2515600" y="0"/>
                </a:lnTo>
                <a:lnTo>
                  <a:pt x="2515600" y="600400"/>
                </a:lnTo>
                <a:lnTo>
                  <a:pt x="0" y="600400"/>
                </a:lnTo>
                <a:lnTo>
                  <a:pt x="0" y="0"/>
                </a:lnTo>
                <a:close/>
              </a:path>
              <a:path w="2515600" h="600400" fill="none">
                <a:moveTo>
                  <a:pt x="0" y="0"/>
                </a:moveTo>
                <a:lnTo>
                  <a:pt x="2515600" y="0"/>
                </a:lnTo>
                <a:lnTo>
                  <a:pt x="2515600" y="600400"/>
                </a:lnTo>
                <a:lnTo>
                  <a:pt x="0" y="600400"/>
                </a:lnTo>
                <a:lnTo>
                  <a:pt x="0" y="0"/>
                </a:lnTo>
                <a:close/>
              </a:path>
            </a:pathLst>
          </a:custGeom>
          <a:noFill/>
          <a:ln w="7600" cap="flat">
            <a:noFill/>
            <a:miter/>
          </a:ln>
        </p:spPr>
        <p:txBody>
          <a:bodyPr wrap="square" lIns="38100" tIns="38100" rIns="38100" bIns="38100" rtlCol="0" anchor="ctr"/>
          <a:lstStyle/>
          <a:p>
            <a:pPr algn="l"/>
            <a:r>
              <a:rPr lang="zh-CN" altLang="en-US" sz="912" b="1" dirty="0">
                <a:solidFill>
                  <a:srgbClr val="191919"/>
                </a:solidFill>
                <a:latin typeface="Microsoft New Tai Lue"/>
                <a:ea typeface="Microsoft New Tai Lue"/>
                <a:cs typeface="Microsoft New Tai Lue"/>
              </a:rPr>
              <a:t>Allianz Availability Report</a:t>
            </a:r>
          </a:p>
        </p:txBody>
      </p:sp>
      <p:sp>
        <p:nvSpPr>
          <p:cNvPr id="133" name="Serbest Form 132"/>
          <p:cNvSpPr/>
          <p:nvPr/>
        </p:nvSpPr>
        <p:spPr>
          <a:xfrm>
            <a:off x="1129200" y="1926863"/>
            <a:ext cx="6927400" cy="15200"/>
          </a:xfrm>
          <a:custGeom>
            <a:avLst/>
            <a:gdLst/>
            <a:ahLst/>
            <a:cxnLst/>
            <a:rect l="l" t="t" r="r" b="b"/>
            <a:pathLst>
              <a:path w="6927400" h="15200" fill="none">
                <a:moveTo>
                  <a:pt x="0" y="0"/>
                </a:moveTo>
                <a:lnTo>
                  <a:pt x="6927400" y="0"/>
                </a:lnTo>
                <a:lnTo>
                  <a:pt x="0" y="0"/>
                </a:lnTo>
                <a:close/>
                <a:moveTo>
                  <a:pt x="0" y="15200"/>
                </a:moveTo>
                <a:lnTo>
                  <a:pt x="6927400" y="15200"/>
                </a:lnTo>
                <a:moveTo>
                  <a:pt x="1154798" y="7600"/>
                </a:moveTo>
                <a:moveTo>
                  <a:pt x="5772602" y="7600"/>
                </a:moveTo>
                <a:moveTo>
                  <a:pt x="3463700" y="7600"/>
                </a:moveTo>
                <a:moveTo>
                  <a:pt x="3463700" y="7600"/>
                </a:moveTo>
                <a:moveTo>
                  <a:pt x="3463700" y="7600"/>
                </a:moveTo>
                <a:moveTo>
                  <a:pt x="3473200" y="8737"/>
                </a:moveTo>
              </a:path>
            </a:pathLst>
          </a:custGeom>
          <a:solidFill>
            <a:srgbClr val="FFFFFF"/>
          </a:solidFill>
          <a:ln w="7600" cap="flat">
            <a:solidFill>
              <a:srgbClr val="101843"/>
            </a:solidFill>
            <a:miter/>
          </a:ln>
        </p:spPr>
      </p:sp>
      <p:sp>
        <p:nvSpPr>
          <p:cNvPr id="134" name="Rectangle"/>
          <p:cNvSpPr/>
          <p:nvPr/>
        </p:nvSpPr>
        <p:spPr>
          <a:xfrm>
            <a:off x="1129200" y="1942063"/>
            <a:ext cx="1242600" cy="440800"/>
          </a:xfrm>
          <a:custGeom>
            <a:avLst/>
            <a:gdLst>
              <a:gd name="connsiteX0" fmla="*/ 621300 w 1242600"/>
              <a:gd name="connsiteY0" fmla="*/ 0 h 440800"/>
            </a:gdLst>
            <a:ahLst/>
            <a:cxnLst>
              <a:cxn ang="0">
                <a:pos x="connsiteX0" y="connsiteY0"/>
              </a:cxn>
            </a:cxnLst>
            <a:rect l="l" t="t" r="r" b="b"/>
            <a:pathLst>
              <a:path w="1242600" h="440800" stroke="0">
                <a:moveTo>
                  <a:pt x="0" y="0"/>
                </a:moveTo>
                <a:lnTo>
                  <a:pt x="1242600" y="0"/>
                </a:lnTo>
                <a:lnTo>
                  <a:pt x="1242600" y="440800"/>
                </a:lnTo>
                <a:lnTo>
                  <a:pt x="0" y="440800"/>
                </a:lnTo>
                <a:lnTo>
                  <a:pt x="0" y="0"/>
                </a:lnTo>
                <a:close/>
              </a:path>
              <a:path w="1242600" h="440800" fill="none">
                <a:moveTo>
                  <a:pt x="0" y="0"/>
                </a:moveTo>
                <a:lnTo>
                  <a:pt x="1242600" y="0"/>
                </a:lnTo>
                <a:lnTo>
                  <a:pt x="1242600" y="440800"/>
                </a:lnTo>
                <a:lnTo>
                  <a:pt x="0" y="440800"/>
                </a:lnTo>
                <a:lnTo>
                  <a:pt x="0" y="0"/>
                </a:lnTo>
                <a:close/>
              </a:path>
            </a:pathLst>
          </a:custGeom>
          <a:noFill/>
          <a:ln w="7600" cap="flat">
            <a:noFill/>
            <a:miter/>
          </a:ln>
        </p:spPr>
        <p:txBody>
          <a:bodyPr wrap="square" lIns="38100" tIns="38100" rIns="38100" bIns="38100" rtlCol="0" anchor="ctr"/>
          <a:lstStyle/>
          <a:p>
            <a:pPr algn="l"/>
            <a:r>
              <a:rPr lang="zh-CN" altLang="en-US" sz="912" b="1" dirty="0">
                <a:solidFill>
                  <a:srgbClr val="191919"/>
                </a:solidFill>
                <a:latin typeface="Microsoft New Tai Lue"/>
                <a:ea typeface="Microsoft New Tai Lue"/>
                <a:cs typeface="Microsoft New Tai Lue"/>
              </a:rPr>
              <a:t>Enabling Functions</a:t>
            </a:r>
          </a:p>
        </p:txBody>
      </p:sp>
      <p:sp>
        <p:nvSpPr>
          <p:cNvPr id="135" name="Rectangle"/>
          <p:cNvSpPr/>
          <p:nvPr/>
        </p:nvSpPr>
        <p:spPr>
          <a:xfrm>
            <a:off x="2759400" y="1942063"/>
            <a:ext cx="1102000" cy="440800"/>
          </a:xfrm>
          <a:custGeom>
            <a:avLst/>
            <a:gdLst/>
            <a:ahLst/>
            <a:cxnLst/>
            <a:rect l="l" t="t" r="r" b="b"/>
            <a:pathLst>
              <a:path w="1102000" h="440800" stroke="0">
                <a:moveTo>
                  <a:pt x="0" y="0"/>
                </a:moveTo>
                <a:lnTo>
                  <a:pt x="1102000" y="0"/>
                </a:lnTo>
                <a:lnTo>
                  <a:pt x="1102000" y="440800"/>
                </a:lnTo>
                <a:lnTo>
                  <a:pt x="0" y="440800"/>
                </a:lnTo>
                <a:lnTo>
                  <a:pt x="0" y="0"/>
                </a:lnTo>
                <a:close/>
              </a:path>
              <a:path w="1102000" h="440800" fill="none">
                <a:moveTo>
                  <a:pt x="0" y="0"/>
                </a:moveTo>
                <a:lnTo>
                  <a:pt x="1102000" y="0"/>
                </a:lnTo>
                <a:lnTo>
                  <a:pt x="1102000" y="440800"/>
                </a:lnTo>
                <a:lnTo>
                  <a:pt x="0" y="440800"/>
                </a:lnTo>
                <a:lnTo>
                  <a:pt x="0" y="0"/>
                </a:lnTo>
                <a:close/>
              </a:path>
            </a:pathLst>
          </a:custGeom>
          <a:noFill/>
          <a:ln w="7600" cap="flat">
            <a:noFill/>
            <a:miter/>
          </a:ln>
        </p:spPr>
        <p:txBody>
          <a:bodyPr wrap="square" lIns="38100" tIns="38100" rIns="38100" bIns="38100" rtlCol="0" anchor="ctr"/>
          <a:lstStyle/>
          <a:p>
            <a:pPr algn="l"/>
            <a:r>
              <a:rPr lang="zh-CN" altLang="en-US" sz="912" b="1" dirty="0">
                <a:solidFill>
                  <a:srgbClr val="191919"/>
                </a:solidFill>
                <a:latin typeface="Microsoft New Tai Lue"/>
                <a:ea typeface="Microsoft New Tai Lue"/>
                <a:cs typeface="Microsoft New Tai Lue"/>
              </a:rPr>
              <a:t>Pension</a:t>
            </a:r>
          </a:p>
        </p:txBody>
      </p:sp>
      <p:sp>
        <p:nvSpPr>
          <p:cNvPr id="136" name="Process"/>
          <p:cNvSpPr/>
          <p:nvPr/>
        </p:nvSpPr>
        <p:spPr>
          <a:xfrm>
            <a:off x="2805000" y="2382863"/>
            <a:ext cx="1147600" cy="688560"/>
          </a:xfrm>
          <a:custGeom>
            <a:avLst/>
            <a:gdLst>
              <a:gd name="connsiteX0" fmla="*/ 0 w 1147600"/>
              <a:gd name="connsiteY0" fmla="*/ 344280 h 688560"/>
              <a:gd name="connsiteX1" fmla="*/ 573800 w 1147600"/>
              <a:gd name="connsiteY1" fmla="*/ 0 h 688560"/>
              <a:gd name="connsiteX2" fmla="*/ 1147600 w 1147600"/>
              <a:gd name="connsiteY2" fmla="*/ 344280 h 688560"/>
              <a:gd name="connsiteX3" fmla="*/ 573800 w 1147600"/>
              <a:gd name="connsiteY3" fmla="*/ 688560 h 688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7600" h="688560" stroke="0">
                <a:moveTo>
                  <a:pt x="1147600" y="635360"/>
                </a:moveTo>
                <a:lnTo>
                  <a:pt x="1147600" y="53200"/>
                </a:lnTo>
                <a:cubicBezTo>
                  <a:pt x="1147600" y="23834"/>
                  <a:pt x="1123766" y="0"/>
                  <a:pt x="1094400" y="0"/>
                </a:cubicBezTo>
                <a:lnTo>
                  <a:pt x="53200" y="0"/>
                </a:lnTo>
                <a:cubicBezTo>
                  <a:pt x="23834" y="0"/>
                  <a:pt x="0" y="23834"/>
                  <a:pt x="0" y="53200"/>
                </a:cubicBezTo>
                <a:lnTo>
                  <a:pt x="0" y="635360"/>
                </a:lnTo>
                <a:cubicBezTo>
                  <a:pt x="0" y="664726"/>
                  <a:pt x="23834" y="688560"/>
                  <a:pt x="53200" y="688560"/>
                </a:cubicBezTo>
                <a:lnTo>
                  <a:pt x="1094400" y="688560"/>
                </a:lnTo>
                <a:cubicBezTo>
                  <a:pt x="1123766" y="688560"/>
                  <a:pt x="1147600" y="664726"/>
                  <a:pt x="1147600" y="635360"/>
                </a:cubicBezTo>
                <a:close/>
              </a:path>
              <a:path w="1147600" h="688560" fill="none">
                <a:moveTo>
                  <a:pt x="1147600" y="635360"/>
                </a:moveTo>
                <a:lnTo>
                  <a:pt x="1147600" y="53200"/>
                </a:lnTo>
                <a:cubicBezTo>
                  <a:pt x="1147600" y="23834"/>
                  <a:pt x="1123766" y="0"/>
                  <a:pt x="1094400" y="0"/>
                </a:cubicBezTo>
                <a:lnTo>
                  <a:pt x="53200" y="0"/>
                </a:lnTo>
                <a:cubicBezTo>
                  <a:pt x="23834" y="0"/>
                  <a:pt x="0" y="23834"/>
                  <a:pt x="0" y="53200"/>
                </a:cubicBezTo>
                <a:lnTo>
                  <a:pt x="0" y="635360"/>
                </a:lnTo>
                <a:cubicBezTo>
                  <a:pt x="0" y="664726"/>
                  <a:pt x="23834" y="688560"/>
                  <a:pt x="53200" y="688560"/>
                </a:cubicBezTo>
                <a:lnTo>
                  <a:pt x="1094400" y="688560"/>
                </a:lnTo>
                <a:cubicBezTo>
                  <a:pt x="1123766" y="688560"/>
                  <a:pt x="1147600" y="664726"/>
                  <a:pt x="1147600" y="635360"/>
                </a:cubicBezTo>
                <a:close/>
              </a:path>
            </a:pathLst>
          </a:custGeom>
          <a:solidFill>
            <a:srgbClr val="92D050"/>
          </a:solidFill>
          <a:ln w="7600" cap="flat">
            <a:solidFill>
              <a:srgbClr val="101843"/>
            </a:solidFill>
            <a:round/>
          </a:ln>
        </p:spPr>
        <p:txBody>
          <a:bodyPr wrap="square" lIns="38100" tIns="38100" rIns="38100" bIns="38100" rtlCol="0" anchor="ctr"/>
          <a:lstStyle/>
          <a:p>
            <a:pPr algn="ctr"/>
            <a:r>
              <a:rPr lang="zh-CN" altLang="en-US" sz="912" b="1" dirty="0">
                <a:solidFill>
                  <a:srgbClr val="191919"/>
                </a:solidFill>
                <a:latin typeface="Microsoft New Tai Lue"/>
                <a:ea typeface="Microsoft New Tai Lue"/>
                <a:cs typeface="Microsoft New Tai Lue"/>
              </a:rPr>
              <a:t>Availability</a:t>
            </a:r>
          </a:p>
          <a:p>
            <a:pPr algn="ctr"/>
            <a:r>
              <a:rPr lang="zh-CN" altLang="en-US" sz="912" b="1" dirty="0">
                <a:solidFill>
                  <a:srgbClr val="191919"/>
                </a:solidFill>
                <a:latin typeface="Microsoft New Tai Lue"/>
                <a:ea typeface="Microsoft New Tai Lue"/>
                <a:cs typeface="Microsoft New Tai Lue"/>
              </a:rPr>
              <a:t>99.6%</a:t>
            </a:r>
          </a:p>
        </p:txBody>
      </p:sp>
      <p:sp>
        <p:nvSpPr>
          <p:cNvPr id="137" name="Process"/>
          <p:cNvSpPr/>
          <p:nvPr/>
        </p:nvSpPr>
        <p:spPr>
          <a:xfrm>
            <a:off x="4097000" y="2382863"/>
            <a:ext cx="1147600" cy="688560"/>
          </a:xfrm>
          <a:custGeom>
            <a:avLst/>
            <a:gdLst>
              <a:gd name="connsiteX0" fmla="*/ 0 w 1147600"/>
              <a:gd name="connsiteY0" fmla="*/ 344280 h 688560"/>
              <a:gd name="connsiteX1" fmla="*/ 573800 w 1147600"/>
              <a:gd name="connsiteY1" fmla="*/ 0 h 688560"/>
              <a:gd name="connsiteX2" fmla="*/ 1147600 w 1147600"/>
              <a:gd name="connsiteY2" fmla="*/ 344280 h 688560"/>
              <a:gd name="connsiteX3" fmla="*/ 573800 w 1147600"/>
              <a:gd name="connsiteY3" fmla="*/ 688560 h 688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7600" h="688560" stroke="0">
                <a:moveTo>
                  <a:pt x="1147600" y="635360"/>
                </a:moveTo>
                <a:lnTo>
                  <a:pt x="1147600" y="53200"/>
                </a:lnTo>
                <a:cubicBezTo>
                  <a:pt x="1147600" y="23834"/>
                  <a:pt x="1123766" y="0"/>
                  <a:pt x="1094400" y="0"/>
                </a:cubicBezTo>
                <a:lnTo>
                  <a:pt x="53200" y="0"/>
                </a:lnTo>
                <a:cubicBezTo>
                  <a:pt x="23834" y="0"/>
                  <a:pt x="0" y="23834"/>
                  <a:pt x="0" y="53200"/>
                </a:cubicBezTo>
                <a:lnTo>
                  <a:pt x="0" y="635360"/>
                </a:lnTo>
                <a:cubicBezTo>
                  <a:pt x="0" y="664726"/>
                  <a:pt x="23834" y="688560"/>
                  <a:pt x="53200" y="688560"/>
                </a:cubicBezTo>
                <a:lnTo>
                  <a:pt x="1094400" y="688560"/>
                </a:lnTo>
                <a:cubicBezTo>
                  <a:pt x="1123766" y="688560"/>
                  <a:pt x="1147600" y="664726"/>
                  <a:pt x="1147600" y="635360"/>
                </a:cubicBezTo>
                <a:close/>
              </a:path>
              <a:path w="1147600" h="688560" fill="none">
                <a:moveTo>
                  <a:pt x="1147600" y="635360"/>
                </a:moveTo>
                <a:lnTo>
                  <a:pt x="1147600" y="53200"/>
                </a:lnTo>
                <a:cubicBezTo>
                  <a:pt x="1147600" y="23834"/>
                  <a:pt x="1123766" y="0"/>
                  <a:pt x="1094400" y="0"/>
                </a:cubicBezTo>
                <a:lnTo>
                  <a:pt x="53200" y="0"/>
                </a:lnTo>
                <a:cubicBezTo>
                  <a:pt x="23834" y="0"/>
                  <a:pt x="0" y="23834"/>
                  <a:pt x="0" y="53200"/>
                </a:cubicBezTo>
                <a:lnTo>
                  <a:pt x="0" y="635360"/>
                </a:lnTo>
                <a:cubicBezTo>
                  <a:pt x="0" y="664726"/>
                  <a:pt x="23834" y="688560"/>
                  <a:pt x="53200" y="688560"/>
                </a:cubicBezTo>
                <a:lnTo>
                  <a:pt x="1094400" y="688560"/>
                </a:lnTo>
                <a:cubicBezTo>
                  <a:pt x="1123766" y="688560"/>
                  <a:pt x="1147600" y="664726"/>
                  <a:pt x="1147600" y="635360"/>
                </a:cubicBezTo>
                <a:close/>
              </a:path>
            </a:pathLst>
          </a:custGeom>
          <a:solidFill>
            <a:srgbClr val="92D050"/>
          </a:solidFill>
          <a:ln w="7600" cap="flat">
            <a:solidFill>
              <a:srgbClr val="101843"/>
            </a:solidFill>
            <a:round/>
          </a:ln>
        </p:spPr>
        <p:txBody>
          <a:bodyPr wrap="square" lIns="38100" tIns="38100" rIns="38100" bIns="38100" rtlCol="0" anchor="ctr"/>
          <a:lstStyle/>
          <a:p>
            <a:pPr algn="ctr"/>
            <a:r>
              <a:rPr lang="zh-CN" altLang="en-US" sz="912" b="1" dirty="0">
                <a:solidFill>
                  <a:srgbClr val="191919"/>
                </a:solidFill>
                <a:latin typeface="Microsoft New Tai Lue"/>
                <a:ea typeface="Microsoft New Tai Lue"/>
                <a:cs typeface="Microsoft New Tai Lue"/>
              </a:rPr>
              <a:t>Availability</a:t>
            </a:r>
          </a:p>
          <a:p>
            <a:pPr algn="ctr"/>
            <a:r>
              <a:rPr lang="zh-CN" altLang="en-US" sz="912" b="1" dirty="0">
                <a:solidFill>
                  <a:srgbClr val="191919"/>
                </a:solidFill>
                <a:latin typeface="Microsoft New Tai Lue"/>
                <a:ea typeface="Microsoft New Tai Lue"/>
                <a:cs typeface="Microsoft New Tai Lue"/>
              </a:rPr>
              <a:t>99.6%</a:t>
            </a:r>
          </a:p>
        </p:txBody>
      </p:sp>
      <p:sp>
        <p:nvSpPr>
          <p:cNvPr id="138" name="Process"/>
          <p:cNvSpPr/>
          <p:nvPr/>
        </p:nvSpPr>
        <p:spPr>
          <a:xfrm>
            <a:off x="5389000" y="2382863"/>
            <a:ext cx="1147600" cy="688560"/>
          </a:xfrm>
          <a:custGeom>
            <a:avLst/>
            <a:gdLst>
              <a:gd name="connsiteX0" fmla="*/ 0 w 1147600"/>
              <a:gd name="connsiteY0" fmla="*/ 344280 h 688560"/>
              <a:gd name="connsiteX1" fmla="*/ 573800 w 1147600"/>
              <a:gd name="connsiteY1" fmla="*/ 0 h 688560"/>
              <a:gd name="connsiteX2" fmla="*/ 1147600 w 1147600"/>
              <a:gd name="connsiteY2" fmla="*/ 344280 h 688560"/>
              <a:gd name="connsiteX3" fmla="*/ 573800 w 1147600"/>
              <a:gd name="connsiteY3" fmla="*/ 688560 h 688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7600" h="688560" stroke="0">
                <a:moveTo>
                  <a:pt x="1147600" y="635360"/>
                </a:moveTo>
                <a:lnTo>
                  <a:pt x="1147600" y="53200"/>
                </a:lnTo>
                <a:cubicBezTo>
                  <a:pt x="1147600" y="23834"/>
                  <a:pt x="1123766" y="0"/>
                  <a:pt x="1094400" y="0"/>
                </a:cubicBezTo>
                <a:lnTo>
                  <a:pt x="53200" y="0"/>
                </a:lnTo>
                <a:cubicBezTo>
                  <a:pt x="23834" y="0"/>
                  <a:pt x="0" y="23834"/>
                  <a:pt x="0" y="53200"/>
                </a:cubicBezTo>
                <a:lnTo>
                  <a:pt x="0" y="635360"/>
                </a:lnTo>
                <a:cubicBezTo>
                  <a:pt x="0" y="664726"/>
                  <a:pt x="23834" y="688560"/>
                  <a:pt x="53200" y="688560"/>
                </a:cubicBezTo>
                <a:lnTo>
                  <a:pt x="1094400" y="688560"/>
                </a:lnTo>
                <a:cubicBezTo>
                  <a:pt x="1123766" y="688560"/>
                  <a:pt x="1147600" y="664726"/>
                  <a:pt x="1147600" y="635360"/>
                </a:cubicBezTo>
                <a:close/>
              </a:path>
              <a:path w="1147600" h="688560" fill="none">
                <a:moveTo>
                  <a:pt x="1147600" y="635360"/>
                </a:moveTo>
                <a:lnTo>
                  <a:pt x="1147600" y="53200"/>
                </a:lnTo>
                <a:cubicBezTo>
                  <a:pt x="1147600" y="23834"/>
                  <a:pt x="1123766" y="0"/>
                  <a:pt x="1094400" y="0"/>
                </a:cubicBezTo>
                <a:lnTo>
                  <a:pt x="53200" y="0"/>
                </a:lnTo>
                <a:cubicBezTo>
                  <a:pt x="23834" y="0"/>
                  <a:pt x="0" y="23834"/>
                  <a:pt x="0" y="53200"/>
                </a:cubicBezTo>
                <a:lnTo>
                  <a:pt x="0" y="635360"/>
                </a:lnTo>
                <a:cubicBezTo>
                  <a:pt x="0" y="664726"/>
                  <a:pt x="23834" y="688560"/>
                  <a:pt x="53200" y="688560"/>
                </a:cubicBezTo>
                <a:lnTo>
                  <a:pt x="1094400" y="688560"/>
                </a:lnTo>
                <a:cubicBezTo>
                  <a:pt x="1123766" y="688560"/>
                  <a:pt x="1147600" y="664726"/>
                  <a:pt x="1147600" y="635360"/>
                </a:cubicBezTo>
                <a:close/>
              </a:path>
            </a:pathLst>
          </a:custGeom>
          <a:solidFill>
            <a:srgbClr val="FF0000"/>
          </a:solidFill>
          <a:ln w="7600" cap="flat">
            <a:solidFill>
              <a:srgbClr val="101843"/>
            </a:solidFill>
            <a:round/>
          </a:ln>
        </p:spPr>
        <p:txBody>
          <a:bodyPr wrap="square" lIns="38100" tIns="38100" rIns="38100" bIns="38100" rtlCol="0" anchor="ctr"/>
          <a:lstStyle/>
          <a:p>
            <a:pPr algn="ctr"/>
            <a:r>
              <a:rPr lang="zh-CN" altLang="en-US" sz="912" b="1" dirty="0">
                <a:solidFill>
                  <a:srgbClr val="191919"/>
                </a:solidFill>
                <a:latin typeface="Microsoft New Tai Lue"/>
                <a:ea typeface="Microsoft New Tai Lue"/>
                <a:cs typeface="Microsoft New Tai Lue"/>
              </a:rPr>
              <a:t>Availability</a:t>
            </a:r>
          </a:p>
          <a:p>
            <a:pPr algn="ctr"/>
            <a:r>
              <a:rPr lang="zh-CN" altLang="en-US" sz="912" b="1" dirty="0">
                <a:solidFill>
                  <a:srgbClr val="191919"/>
                </a:solidFill>
                <a:latin typeface="Microsoft New Tai Lue"/>
                <a:ea typeface="Microsoft New Tai Lue"/>
                <a:cs typeface="Microsoft New Tai Lue"/>
              </a:rPr>
              <a:t>96.3%</a:t>
            </a:r>
          </a:p>
        </p:txBody>
      </p:sp>
      <p:sp>
        <p:nvSpPr>
          <p:cNvPr id="139" name="Rectangle"/>
          <p:cNvSpPr/>
          <p:nvPr/>
        </p:nvSpPr>
        <p:spPr>
          <a:xfrm>
            <a:off x="2805000" y="2981371"/>
            <a:ext cx="1147600" cy="440800"/>
          </a:xfrm>
          <a:custGeom>
            <a:avLst/>
            <a:gdLst/>
            <a:ahLst/>
            <a:cxnLst/>
            <a:rect l="l" t="t" r="r" b="b"/>
            <a:pathLst>
              <a:path w="1147600" h="440800" stroke="0">
                <a:moveTo>
                  <a:pt x="0" y="0"/>
                </a:moveTo>
                <a:lnTo>
                  <a:pt x="1147600" y="0"/>
                </a:lnTo>
                <a:lnTo>
                  <a:pt x="1147600" y="440800"/>
                </a:lnTo>
                <a:lnTo>
                  <a:pt x="0" y="440800"/>
                </a:lnTo>
                <a:lnTo>
                  <a:pt x="0" y="0"/>
                </a:lnTo>
                <a:close/>
              </a:path>
              <a:path w="1147600" h="440800" fill="none">
                <a:moveTo>
                  <a:pt x="0" y="0"/>
                </a:moveTo>
                <a:lnTo>
                  <a:pt x="1147600" y="0"/>
                </a:lnTo>
                <a:lnTo>
                  <a:pt x="1147600" y="440800"/>
                </a:lnTo>
                <a:lnTo>
                  <a:pt x="0" y="440800"/>
                </a:lnTo>
                <a:lnTo>
                  <a:pt x="0" y="0"/>
                </a:lnTo>
                <a:close/>
              </a:path>
            </a:pathLst>
          </a:custGeom>
          <a:noFill/>
          <a:ln w="7600" cap="flat">
            <a:noFill/>
            <a:miter/>
          </a:ln>
        </p:spPr>
        <p:txBody>
          <a:bodyPr wrap="square" lIns="38100" tIns="38100" rIns="38100" bIns="38100" rtlCol="0" anchor="ctr"/>
          <a:lstStyle/>
          <a:p>
            <a:pPr algn="ctr"/>
            <a:r>
              <a:rPr lang="zh-CN" altLang="en-US" sz="912" b="1" u="sng" dirty="0">
                <a:solidFill>
                  <a:srgbClr val="191919"/>
                </a:solidFill>
                <a:latin typeface="Microsoft New Tai Lue"/>
                <a:ea typeface="Microsoft New Tai Lue"/>
                <a:cs typeface="Microsoft New Tai Lue"/>
              </a:rPr>
              <a:t>LIFE</a:t>
            </a:r>
          </a:p>
        </p:txBody>
      </p:sp>
      <p:sp>
        <p:nvSpPr>
          <p:cNvPr id="140" name="Rectangle"/>
          <p:cNvSpPr/>
          <p:nvPr/>
        </p:nvSpPr>
        <p:spPr>
          <a:xfrm>
            <a:off x="4097000" y="2981371"/>
            <a:ext cx="1193200" cy="440800"/>
          </a:xfrm>
          <a:custGeom>
            <a:avLst/>
            <a:gdLst/>
            <a:ahLst/>
            <a:cxnLst/>
            <a:rect l="l" t="t" r="r" b="b"/>
            <a:pathLst>
              <a:path w="1193200" h="440800" stroke="0">
                <a:moveTo>
                  <a:pt x="0" y="0"/>
                </a:moveTo>
                <a:lnTo>
                  <a:pt x="1193200" y="0"/>
                </a:lnTo>
                <a:lnTo>
                  <a:pt x="1193200" y="440800"/>
                </a:lnTo>
                <a:lnTo>
                  <a:pt x="0" y="440800"/>
                </a:lnTo>
                <a:lnTo>
                  <a:pt x="0" y="0"/>
                </a:lnTo>
                <a:close/>
              </a:path>
              <a:path w="1193200" h="440800" fill="none">
                <a:moveTo>
                  <a:pt x="0" y="0"/>
                </a:moveTo>
                <a:lnTo>
                  <a:pt x="1193200" y="0"/>
                </a:lnTo>
                <a:lnTo>
                  <a:pt x="1193200" y="440800"/>
                </a:lnTo>
                <a:lnTo>
                  <a:pt x="0" y="440800"/>
                </a:lnTo>
                <a:lnTo>
                  <a:pt x="0" y="0"/>
                </a:lnTo>
                <a:close/>
              </a:path>
            </a:pathLst>
          </a:custGeom>
          <a:noFill/>
          <a:ln w="7600" cap="flat">
            <a:noFill/>
            <a:miter/>
          </a:ln>
        </p:spPr>
        <p:txBody>
          <a:bodyPr wrap="square" lIns="38100" tIns="38100" rIns="38100" bIns="38100" rtlCol="0" anchor="ctr"/>
          <a:lstStyle/>
          <a:p>
            <a:pPr algn="ctr"/>
            <a:r>
              <a:rPr lang="zh-CN" altLang="en-US" sz="912" b="1" u="sng" dirty="0">
                <a:solidFill>
                  <a:srgbClr val="191919"/>
                </a:solidFill>
                <a:latin typeface="Microsoft New Tai Lue"/>
                <a:ea typeface="Microsoft New Tai Lue"/>
                <a:cs typeface="Microsoft New Tai Lue"/>
              </a:rPr>
              <a:t>BES</a:t>
            </a:r>
          </a:p>
        </p:txBody>
      </p:sp>
      <p:sp>
        <p:nvSpPr>
          <p:cNvPr id="141" name="Rectangle"/>
          <p:cNvSpPr/>
          <p:nvPr/>
        </p:nvSpPr>
        <p:spPr>
          <a:xfrm>
            <a:off x="5423200" y="2981371"/>
            <a:ext cx="1079200" cy="440800"/>
          </a:xfrm>
          <a:custGeom>
            <a:avLst/>
            <a:gdLst>
              <a:gd name="connsiteX0" fmla="*/ 539600 w 1079200"/>
              <a:gd name="connsiteY0" fmla="*/ 440800 h 440800"/>
            </a:gdLst>
            <a:ahLst/>
            <a:cxnLst>
              <a:cxn ang="0">
                <a:pos x="connsiteX0" y="connsiteY0"/>
              </a:cxn>
            </a:cxnLst>
            <a:rect l="l" t="t" r="r" b="b"/>
            <a:pathLst>
              <a:path w="1079200" h="440800" stroke="0">
                <a:moveTo>
                  <a:pt x="0" y="0"/>
                </a:moveTo>
                <a:lnTo>
                  <a:pt x="1079200" y="0"/>
                </a:lnTo>
                <a:lnTo>
                  <a:pt x="1079200" y="440800"/>
                </a:lnTo>
                <a:lnTo>
                  <a:pt x="0" y="440800"/>
                </a:lnTo>
                <a:lnTo>
                  <a:pt x="0" y="0"/>
                </a:lnTo>
                <a:close/>
              </a:path>
              <a:path w="1079200" h="440800" fill="none">
                <a:moveTo>
                  <a:pt x="0" y="0"/>
                </a:moveTo>
                <a:lnTo>
                  <a:pt x="1079200" y="0"/>
                </a:lnTo>
                <a:lnTo>
                  <a:pt x="1079200" y="440800"/>
                </a:lnTo>
                <a:lnTo>
                  <a:pt x="0" y="440800"/>
                </a:lnTo>
                <a:lnTo>
                  <a:pt x="0" y="0"/>
                </a:lnTo>
                <a:close/>
              </a:path>
            </a:pathLst>
          </a:custGeom>
          <a:noFill/>
          <a:ln w="7600" cap="flat">
            <a:noFill/>
            <a:miter/>
          </a:ln>
        </p:spPr>
        <p:txBody>
          <a:bodyPr wrap="square" lIns="38100" tIns="38100" rIns="38100" bIns="38100" rtlCol="0" anchor="ctr"/>
          <a:lstStyle/>
          <a:p>
            <a:pPr algn="ctr"/>
            <a:r>
              <a:rPr lang="zh-CN" altLang="en-US" sz="912" b="1" u="sng" dirty="0">
                <a:solidFill>
                  <a:srgbClr val="191919"/>
                </a:solidFill>
                <a:latin typeface="Microsoft New Tai Lue"/>
                <a:ea typeface="Microsoft New Tai Lue"/>
                <a:cs typeface="Microsoft New Tai Lue"/>
              </a:rPr>
              <a:t>OKS</a:t>
            </a:r>
          </a:p>
        </p:txBody>
      </p:sp>
      <p:sp>
        <p:nvSpPr>
          <p:cNvPr id="142" name="Process"/>
          <p:cNvSpPr/>
          <p:nvPr/>
        </p:nvSpPr>
        <p:spPr>
          <a:xfrm>
            <a:off x="2805000" y="3707155"/>
            <a:ext cx="1147600" cy="688560"/>
          </a:xfrm>
          <a:custGeom>
            <a:avLst/>
            <a:gdLst>
              <a:gd name="connsiteX0" fmla="*/ 0 w 1147600"/>
              <a:gd name="connsiteY0" fmla="*/ 344280 h 688560"/>
              <a:gd name="connsiteX1" fmla="*/ 573800 w 1147600"/>
              <a:gd name="connsiteY1" fmla="*/ 0 h 688560"/>
              <a:gd name="connsiteX2" fmla="*/ 1147600 w 1147600"/>
              <a:gd name="connsiteY2" fmla="*/ 344280 h 688560"/>
              <a:gd name="connsiteX3" fmla="*/ 573800 w 1147600"/>
              <a:gd name="connsiteY3" fmla="*/ 688560 h 688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7600" h="688560" stroke="0">
                <a:moveTo>
                  <a:pt x="1147600" y="635360"/>
                </a:moveTo>
                <a:lnTo>
                  <a:pt x="1147600" y="53200"/>
                </a:lnTo>
                <a:cubicBezTo>
                  <a:pt x="1147600" y="23834"/>
                  <a:pt x="1123766" y="0"/>
                  <a:pt x="1094400" y="0"/>
                </a:cubicBezTo>
                <a:lnTo>
                  <a:pt x="53200" y="0"/>
                </a:lnTo>
                <a:cubicBezTo>
                  <a:pt x="23834" y="0"/>
                  <a:pt x="0" y="23834"/>
                  <a:pt x="0" y="53200"/>
                </a:cubicBezTo>
                <a:lnTo>
                  <a:pt x="0" y="635360"/>
                </a:lnTo>
                <a:cubicBezTo>
                  <a:pt x="0" y="664726"/>
                  <a:pt x="23834" y="688560"/>
                  <a:pt x="53200" y="688560"/>
                </a:cubicBezTo>
                <a:lnTo>
                  <a:pt x="1094400" y="688560"/>
                </a:lnTo>
                <a:cubicBezTo>
                  <a:pt x="1123766" y="688560"/>
                  <a:pt x="1147600" y="664726"/>
                  <a:pt x="1147600" y="635360"/>
                </a:cubicBezTo>
                <a:close/>
              </a:path>
              <a:path w="1147600" h="688560" fill="none">
                <a:moveTo>
                  <a:pt x="1147600" y="635360"/>
                </a:moveTo>
                <a:lnTo>
                  <a:pt x="1147600" y="53200"/>
                </a:lnTo>
                <a:cubicBezTo>
                  <a:pt x="1147600" y="23834"/>
                  <a:pt x="1123766" y="0"/>
                  <a:pt x="1094400" y="0"/>
                </a:cubicBezTo>
                <a:lnTo>
                  <a:pt x="53200" y="0"/>
                </a:lnTo>
                <a:cubicBezTo>
                  <a:pt x="23834" y="0"/>
                  <a:pt x="0" y="23834"/>
                  <a:pt x="0" y="53200"/>
                </a:cubicBezTo>
                <a:lnTo>
                  <a:pt x="0" y="635360"/>
                </a:lnTo>
                <a:cubicBezTo>
                  <a:pt x="0" y="664726"/>
                  <a:pt x="23834" y="688560"/>
                  <a:pt x="53200" y="688560"/>
                </a:cubicBezTo>
                <a:lnTo>
                  <a:pt x="1094400" y="688560"/>
                </a:lnTo>
                <a:cubicBezTo>
                  <a:pt x="1123766" y="688560"/>
                  <a:pt x="1147600" y="664726"/>
                  <a:pt x="1147600" y="635360"/>
                </a:cubicBezTo>
                <a:close/>
              </a:path>
            </a:pathLst>
          </a:custGeom>
          <a:solidFill>
            <a:srgbClr val="92D050"/>
          </a:solidFill>
          <a:ln w="7600" cap="flat">
            <a:solidFill>
              <a:srgbClr val="101843"/>
            </a:solidFill>
            <a:round/>
          </a:ln>
        </p:spPr>
        <p:txBody>
          <a:bodyPr wrap="square" lIns="38100" tIns="38100" rIns="38100" bIns="38100" rtlCol="0" anchor="ctr"/>
          <a:lstStyle/>
          <a:p>
            <a:pPr algn="ctr"/>
            <a:r>
              <a:rPr lang="zh-CN" altLang="en-US" sz="912" b="1" dirty="0">
                <a:solidFill>
                  <a:srgbClr val="191919"/>
                </a:solidFill>
                <a:latin typeface="Microsoft New Tai Lue"/>
                <a:ea typeface="Microsoft New Tai Lue"/>
                <a:cs typeface="Microsoft New Tai Lue"/>
              </a:rPr>
              <a:t>Availability</a:t>
            </a:r>
          </a:p>
          <a:p>
            <a:pPr algn="ctr"/>
            <a:r>
              <a:rPr lang="zh-CN" altLang="en-US" sz="912" b="1" dirty="0">
                <a:solidFill>
                  <a:srgbClr val="191919"/>
                </a:solidFill>
                <a:latin typeface="Microsoft New Tai Lue"/>
                <a:ea typeface="Microsoft New Tai Lue"/>
                <a:cs typeface="Microsoft New Tai Lue"/>
              </a:rPr>
              <a:t>100.0%</a:t>
            </a:r>
          </a:p>
        </p:txBody>
      </p:sp>
      <p:sp>
        <p:nvSpPr>
          <p:cNvPr id="143" name="Process"/>
          <p:cNvSpPr/>
          <p:nvPr/>
        </p:nvSpPr>
        <p:spPr>
          <a:xfrm>
            <a:off x="4097000" y="3707155"/>
            <a:ext cx="1147600" cy="688560"/>
          </a:xfrm>
          <a:custGeom>
            <a:avLst/>
            <a:gdLst>
              <a:gd name="connsiteX0" fmla="*/ 0 w 1147600"/>
              <a:gd name="connsiteY0" fmla="*/ 344280 h 688560"/>
              <a:gd name="connsiteX1" fmla="*/ 573800 w 1147600"/>
              <a:gd name="connsiteY1" fmla="*/ 0 h 688560"/>
              <a:gd name="connsiteX2" fmla="*/ 1147600 w 1147600"/>
              <a:gd name="connsiteY2" fmla="*/ 344280 h 688560"/>
              <a:gd name="connsiteX3" fmla="*/ 573800 w 1147600"/>
              <a:gd name="connsiteY3" fmla="*/ 688560 h 688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7600" h="688560" stroke="0">
                <a:moveTo>
                  <a:pt x="1147600" y="635360"/>
                </a:moveTo>
                <a:lnTo>
                  <a:pt x="1147600" y="53200"/>
                </a:lnTo>
                <a:cubicBezTo>
                  <a:pt x="1147600" y="23834"/>
                  <a:pt x="1123766" y="0"/>
                  <a:pt x="1094400" y="0"/>
                </a:cubicBezTo>
                <a:lnTo>
                  <a:pt x="53200" y="0"/>
                </a:lnTo>
                <a:cubicBezTo>
                  <a:pt x="23834" y="0"/>
                  <a:pt x="0" y="23834"/>
                  <a:pt x="0" y="53200"/>
                </a:cubicBezTo>
                <a:lnTo>
                  <a:pt x="0" y="635360"/>
                </a:lnTo>
                <a:cubicBezTo>
                  <a:pt x="0" y="664726"/>
                  <a:pt x="23834" y="688560"/>
                  <a:pt x="53200" y="688560"/>
                </a:cubicBezTo>
                <a:lnTo>
                  <a:pt x="1094400" y="688560"/>
                </a:lnTo>
                <a:cubicBezTo>
                  <a:pt x="1123766" y="688560"/>
                  <a:pt x="1147600" y="664726"/>
                  <a:pt x="1147600" y="635360"/>
                </a:cubicBezTo>
                <a:close/>
              </a:path>
              <a:path w="1147600" h="688560" fill="none">
                <a:moveTo>
                  <a:pt x="1147600" y="635360"/>
                </a:moveTo>
                <a:lnTo>
                  <a:pt x="1147600" y="53200"/>
                </a:lnTo>
                <a:cubicBezTo>
                  <a:pt x="1147600" y="23834"/>
                  <a:pt x="1123766" y="0"/>
                  <a:pt x="1094400" y="0"/>
                </a:cubicBezTo>
                <a:lnTo>
                  <a:pt x="53200" y="0"/>
                </a:lnTo>
                <a:cubicBezTo>
                  <a:pt x="23834" y="0"/>
                  <a:pt x="0" y="23834"/>
                  <a:pt x="0" y="53200"/>
                </a:cubicBezTo>
                <a:lnTo>
                  <a:pt x="0" y="635360"/>
                </a:lnTo>
                <a:cubicBezTo>
                  <a:pt x="0" y="664726"/>
                  <a:pt x="23834" y="688560"/>
                  <a:pt x="53200" y="688560"/>
                </a:cubicBezTo>
                <a:lnTo>
                  <a:pt x="1094400" y="688560"/>
                </a:lnTo>
                <a:cubicBezTo>
                  <a:pt x="1123766" y="688560"/>
                  <a:pt x="1147600" y="664726"/>
                  <a:pt x="1147600" y="635360"/>
                </a:cubicBezTo>
                <a:close/>
              </a:path>
            </a:pathLst>
          </a:custGeom>
          <a:solidFill>
            <a:srgbClr val="92D050"/>
          </a:solidFill>
          <a:ln w="7600" cap="flat">
            <a:solidFill>
              <a:srgbClr val="101843"/>
            </a:solidFill>
            <a:round/>
          </a:ln>
        </p:spPr>
        <p:txBody>
          <a:bodyPr wrap="square" lIns="38100" tIns="38100" rIns="38100" bIns="38100" rtlCol="0" anchor="ctr"/>
          <a:lstStyle/>
          <a:p>
            <a:pPr algn="ctr"/>
            <a:r>
              <a:rPr lang="zh-CN" altLang="en-US" sz="912" b="1" dirty="0">
                <a:solidFill>
                  <a:srgbClr val="191919"/>
                </a:solidFill>
                <a:latin typeface="Microsoft New Tai Lue"/>
                <a:ea typeface="Microsoft New Tai Lue"/>
                <a:cs typeface="Microsoft New Tai Lue"/>
              </a:rPr>
              <a:t>Availability</a:t>
            </a:r>
          </a:p>
          <a:p>
            <a:pPr algn="ctr"/>
            <a:r>
              <a:rPr lang="zh-CN" altLang="en-US" sz="912" b="1" dirty="0">
                <a:solidFill>
                  <a:srgbClr val="191919"/>
                </a:solidFill>
                <a:latin typeface="Microsoft New Tai Lue"/>
                <a:ea typeface="Microsoft New Tai Lue"/>
                <a:cs typeface="Microsoft New Tai Lue"/>
              </a:rPr>
              <a:t>99.6%</a:t>
            </a:r>
          </a:p>
        </p:txBody>
      </p:sp>
      <p:sp>
        <p:nvSpPr>
          <p:cNvPr id="144" name="Process"/>
          <p:cNvSpPr/>
          <p:nvPr/>
        </p:nvSpPr>
        <p:spPr>
          <a:xfrm>
            <a:off x="5389000" y="3707155"/>
            <a:ext cx="1147600" cy="688560"/>
          </a:xfrm>
          <a:custGeom>
            <a:avLst/>
            <a:gdLst>
              <a:gd name="connsiteX0" fmla="*/ 0 w 1147600"/>
              <a:gd name="connsiteY0" fmla="*/ 344280 h 688560"/>
              <a:gd name="connsiteX1" fmla="*/ 573800 w 1147600"/>
              <a:gd name="connsiteY1" fmla="*/ 0 h 688560"/>
              <a:gd name="connsiteX2" fmla="*/ 1147600 w 1147600"/>
              <a:gd name="connsiteY2" fmla="*/ 344280 h 688560"/>
              <a:gd name="connsiteX3" fmla="*/ 573800 w 1147600"/>
              <a:gd name="connsiteY3" fmla="*/ 688560 h 688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7600" h="688560" stroke="0">
                <a:moveTo>
                  <a:pt x="1147600" y="635360"/>
                </a:moveTo>
                <a:lnTo>
                  <a:pt x="1147600" y="53200"/>
                </a:lnTo>
                <a:cubicBezTo>
                  <a:pt x="1147600" y="23834"/>
                  <a:pt x="1123766" y="0"/>
                  <a:pt x="1094400" y="0"/>
                </a:cubicBezTo>
                <a:lnTo>
                  <a:pt x="53200" y="0"/>
                </a:lnTo>
                <a:cubicBezTo>
                  <a:pt x="23834" y="0"/>
                  <a:pt x="0" y="23834"/>
                  <a:pt x="0" y="53200"/>
                </a:cubicBezTo>
                <a:lnTo>
                  <a:pt x="0" y="635360"/>
                </a:lnTo>
                <a:cubicBezTo>
                  <a:pt x="0" y="664726"/>
                  <a:pt x="23834" y="688560"/>
                  <a:pt x="53200" y="688560"/>
                </a:cubicBezTo>
                <a:lnTo>
                  <a:pt x="1094400" y="688560"/>
                </a:lnTo>
                <a:cubicBezTo>
                  <a:pt x="1123766" y="688560"/>
                  <a:pt x="1147600" y="664726"/>
                  <a:pt x="1147600" y="635360"/>
                </a:cubicBezTo>
                <a:close/>
              </a:path>
              <a:path w="1147600" h="688560" fill="none">
                <a:moveTo>
                  <a:pt x="1147600" y="635360"/>
                </a:moveTo>
                <a:lnTo>
                  <a:pt x="1147600" y="53200"/>
                </a:lnTo>
                <a:cubicBezTo>
                  <a:pt x="1147600" y="23834"/>
                  <a:pt x="1123766" y="0"/>
                  <a:pt x="1094400" y="0"/>
                </a:cubicBezTo>
                <a:lnTo>
                  <a:pt x="53200" y="0"/>
                </a:lnTo>
                <a:cubicBezTo>
                  <a:pt x="23834" y="0"/>
                  <a:pt x="0" y="23834"/>
                  <a:pt x="0" y="53200"/>
                </a:cubicBezTo>
                <a:lnTo>
                  <a:pt x="0" y="635360"/>
                </a:lnTo>
                <a:cubicBezTo>
                  <a:pt x="0" y="664726"/>
                  <a:pt x="23834" y="688560"/>
                  <a:pt x="53200" y="688560"/>
                </a:cubicBezTo>
                <a:lnTo>
                  <a:pt x="1094400" y="688560"/>
                </a:lnTo>
                <a:cubicBezTo>
                  <a:pt x="1123766" y="688560"/>
                  <a:pt x="1147600" y="664726"/>
                  <a:pt x="1147600" y="635360"/>
                </a:cubicBezTo>
                <a:close/>
              </a:path>
            </a:pathLst>
          </a:custGeom>
          <a:solidFill>
            <a:srgbClr val="92D050"/>
          </a:solidFill>
          <a:ln w="7600" cap="flat">
            <a:solidFill>
              <a:srgbClr val="101843"/>
            </a:solidFill>
            <a:round/>
          </a:ln>
        </p:spPr>
        <p:txBody>
          <a:bodyPr wrap="square" lIns="38100" tIns="38100" rIns="38100" bIns="38100" rtlCol="0" anchor="ctr"/>
          <a:lstStyle/>
          <a:p>
            <a:pPr algn="ctr"/>
            <a:r>
              <a:rPr lang="zh-CN" altLang="en-US" sz="912" b="1" dirty="0">
                <a:solidFill>
                  <a:srgbClr val="191919"/>
                </a:solidFill>
                <a:latin typeface="Microsoft New Tai Lue"/>
                <a:ea typeface="Microsoft New Tai Lue"/>
                <a:cs typeface="Microsoft New Tai Lue"/>
              </a:rPr>
              <a:t>Availability</a:t>
            </a:r>
          </a:p>
          <a:p>
            <a:pPr algn="ctr"/>
            <a:r>
              <a:rPr lang="zh-CN" altLang="en-US" sz="912" b="1" dirty="0">
                <a:solidFill>
                  <a:srgbClr val="191919"/>
                </a:solidFill>
                <a:latin typeface="Microsoft New Tai Lue"/>
                <a:ea typeface="Microsoft New Tai Lue"/>
                <a:cs typeface="Microsoft New Tai Lue"/>
              </a:rPr>
              <a:t>99.7%</a:t>
            </a:r>
          </a:p>
        </p:txBody>
      </p:sp>
      <p:sp>
        <p:nvSpPr>
          <p:cNvPr id="145" name="Rectangle"/>
          <p:cNvSpPr/>
          <p:nvPr/>
        </p:nvSpPr>
        <p:spPr>
          <a:xfrm>
            <a:off x="2782200" y="4305663"/>
            <a:ext cx="1147600" cy="440800"/>
          </a:xfrm>
          <a:custGeom>
            <a:avLst/>
            <a:gdLst/>
            <a:ahLst/>
            <a:cxnLst/>
            <a:rect l="l" t="t" r="r" b="b"/>
            <a:pathLst>
              <a:path w="1147600" h="440800" stroke="0">
                <a:moveTo>
                  <a:pt x="0" y="0"/>
                </a:moveTo>
                <a:lnTo>
                  <a:pt x="1147600" y="0"/>
                </a:lnTo>
                <a:lnTo>
                  <a:pt x="1147600" y="440800"/>
                </a:lnTo>
                <a:lnTo>
                  <a:pt x="0" y="440800"/>
                </a:lnTo>
                <a:lnTo>
                  <a:pt x="0" y="0"/>
                </a:lnTo>
                <a:close/>
              </a:path>
              <a:path w="1147600" h="440800" fill="none">
                <a:moveTo>
                  <a:pt x="0" y="0"/>
                </a:moveTo>
                <a:lnTo>
                  <a:pt x="1147600" y="0"/>
                </a:lnTo>
                <a:lnTo>
                  <a:pt x="1147600" y="440800"/>
                </a:lnTo>
                <a:lnTo>
                  <a:pt x="0" y="440800"/>
                </a:lnTo>
                <a:lnTo>
                  <a:pt x="0" y="0"/>
                </a:lnTo>
                <a:close/>
              </a:path>
            </a:pathLst>
          </a:custGeom>
          <a:noFill/>
          <a:ln w="7600" cap="flat">
            <a:noFill/>
            <a:miter/>
          </a:ln>
        </p:spPr>
        <p:txBody>
          <a:bodyPr wrap="square" lIns="38100" tIns="38100" rIns="38100" bIns="38100" rtlCol="0" anchor="ctr"/>
          <a:lstStyle/>
          <a:p>
            <a:pPr algn="ctr"/>
            <a:r>
              <a:rPr lang="zh-CN" altLang="en-US" sz="912" b="1" u="sng" dirty="0">
                <a:solidFill>
                  <a:srgbClr val="191919"/>
                </a:solidFill>
                <a:latin typeface="Microsoft New Tai Lue"/>
                <a:ea typeface="Microsoft New Tai Lue"/>
                <a:cs typeface="Microsoft New Tai Lue"/>
              </a:rPr>
              <a:t>CAS</a:t>
            </a:r>
          </a:p>
        </p:txBody>
      </p:sp>
      <p:sp>
        <p:nvSpPr>
          <p:cNvPr id="146" name="Rectangle"/>
          <p:cNvSpPr/>
          <p:nvPr/>
        </p:nvSpPr>
        <p:spPr>
          <a:xfrm>
            <a:off x="4074200" y="4305663"/>
            <a:ext cx="1193200" cy="440800"/>
          </a:xfrm>
          <a:custGeom>
            <a:avLst/>
            <a:gdLst/>
            <a:ahLst/>
            <a:cxnLst/>
            <a:rect l="l" t="t" r="r" b="b"/>
            <a:pathLst>
              <a:path w="1193200" h="440800" stroke="0">
                <a:moveTo>
                  <a:pt x="0" y="0"/>
                </a:moveTo>
                <a:lnTo>
                  <a:pt x="1193200" y="0"/>
                </a:lnTo>
                <a:lnTo>
                  <a:pt x="1193200" y="440800"/>
                </a:lnTo>
                <a:lnTo>
                  <a:pt x="0" y="440800"/>
                </a:lnTo>
                <a:lnTo>
                  <a:pt x="0" y="0"/>
                </a:lnTo>
                <a:close/>
              </a:path>
              <a:path w="1193200" h="440800" fill="none">
                <a:moveTo>
                  <a:pt x="0" y="0"/>
                </a:moveTo>
                <a:lnTo>
                  <a:pt x="1193200" y="0"/>
                </a:lnTo>
                <a:lnTo>
                  <a:pt x="1193200" y="440800"/>
                </a:lnTo>
                <a:lnTo>
                  <a:pt x="0" y="440800"/>
                </a:lnTo>
                <a:lnTo>
                  <a:pt x="0" y="0"/>
                </a:lnTo>
                <a:close/>
              </a:path>
            </a:pathLst>
          </a:custGeom>
          <a:noFill/>
          <a:ln w="7600" cap="flat">
            <a:noFill/>
            <a:miter/>
          </a:ln>
        </p:spPr>
        <p:txBody>
          <a:bodyPr wrap="square" lIns="38100" tIns="38100" rIns="38100" bIns="38100" rtlCol="0" anchor="ctr"/>
          <a:lstStyle/>
          <a:p>
            <a:pPr algn="ctr"/>
            <a:r>
              <a:rPr lang="zh-CN" altLang="en-US" sz="912" b="1" u="sng" dirty="0">
                <a:solidFill>
                  <a:srgbClr val="191919"/>
                </a:solidFill>
                <a:latin typeface="Microsoft New Tai Lue"/>
                <a:ea typeface="Microsoft New Tai Lue"/>
                <a:cs typeface="Microsoft New Tai Lue"/>
              </a:rPr>
              <a:t>AOMS</a:t>
            </a:r>
          </a:p>
        </p:txBody>
      </p:sp>
      <p:sp>
        <p:nvSpPr>
          <p:cNvPr id="147" name="Rectangle"/>
          <p:cNvSpPr/>
          <p:nvPr/>
        </p:nvSpPr>
        <p:spPr>
          <a:xfrm>
            <a:off x="5400400" y="4305663"/>
            <a:ext cx="1079200" cy="440800"/>
          </a:xfrm>
          <a:custGeom>
            <a:avLst/>
            <a:gdLst>
              <a:gd name="connsiteX0" fmla="*/ 539600 w 1079200"/>
              <a:gd name="connsiteY0" fmla="*/ 440800 h 440800"/>
            </a:gdLst>
            <a:ahLst/>
            <a:cxnLst>
              <a:cxn ang="0">
                <a:pos x="connsiteX0" y="connsiteY0"/>
              </a:cxn>
            </a:cxnLst>
            <a:rect l="l" t="t" r="r" b="b"/>
            <a:pathLst>
              <a:path w="1079200" h="440800" stroke="0">
                <a:moveTo>
                  <a:pt x="0" y="0"/>
                </a:moveTo>
                <a:lnTo>
                  <a:pt x="1079200" y="0"/>
                </a:lnTo>
                <a:lnTo>
                  <a:pt x="1079200" y="440800"/>
                </a:lnTo>
                <a:lnTo>
                  <a:pt x="0" y="440800"/>
                </a:lnTo>
                <a:lnTo>
                  <a:pt x="0" y="0"/>
                </a:lnTo>
                <a:close/>
              </a:path>
              <a:path w="1079200" h="440800" fill="none">
                <a:moveTo>
                  <a:pt x="0" y="0"/>
                </a:moveTo>
                <a:lnTo>
                  <a:pt x="1079200" y="0"/>
                </a:lnTo>
                <a:lnTo>
                  <a:pt x="1079200" y="440800"/>
                </a:lnTo>
                <a:lnTo>
                  <a:pt x="0" y="440800"/>
                </a:lnTo>
                <a:lnTo>
                  <a:pt x="0" y="0"/>
                </a:lnTo>
                <a:close/>
              </a:path>
            </a:pathLst>
          </a:custGeom>
          <a:noFill/>
          <a:ln w="7600" cap="flat">
            <a:noFill/>
            <a:miter/>
          </a:ln>
        </p:spPr>
        <p:txBody>
          <a:bodyPr wrap="square" lIns="38100" tIns="38100" rIns="38100" bIns="38100" rtlCol="0" anchor="ctr"/>
          <a:lstStyle/>
          <a:p>
            <a:pPr algn="ctr"/>
            <a:r>
              <a:rPr lang="zh-CN" altLang="en-US" sz="912" b="1" u="sng" dirty="0">
                <a:solidFill>
                  <a:srgbClr val="191919"/>
                </a:solidFill>
                <a:latin typeface="Microsoft New Tai Lue"/>
                <a:ea typeface="Microsoft New Tai Lue"/>
                <a:cs typeface="Microsoft New Tai Lue"/>
              </a:rPr>
              <a:t>OVM</a:t>
            </a:r>
          </a:p>
        </p:txBody>
      </p:sp>
      <p:sp>
        <p:nvSpPr>
          <p:cNvPr id="148" name="Parallel Mode"/>
          <p:cNvSpPr/>
          <p:nvPr/>
        </p:nvSpPr>
        <p:spPr>
          <a:xfrm>
            <a:off x="1083600" y="4746463"/>
            <a:ext cx="6927400" cy="15200"/>
          </a:xfrm>
          <a:custGeom>
            <a:avLst/>
            <a:gdLst/>
            <a:ahLst/>
            <a:cxnLst/>
            <a:rect l="l" t="t" r="r" b="b"/>
            <a:pathLst>
              <a:path w="6927400" h="15200" fill="none">
                <a:moveTo>
                  <a:pt x="0" y="0"/>
                </a:moveTo>
                <a:lnTo>
                  <a:pt x="6927400" y="0"/>
                </a:lnTo>
                <a:lnTo>
                  <a:pt x="0" y="0"/>
                </a:lnTo>
                <a:close/>
                <a:moveTo>
                  <a:pt x="0" y="15200"/>
                </a:moveTo>
                <a:lnTo>
                  <a:pt x="6927400" y="15200"/>
                </a:lnTo>
                <a:moveTo>
                  <a:pt x="1154797" y="7600"/>
                </a:moveTo>
                <a:moveTo>
                  <a:pt x="5772603" y="7600"/>
                </a:moveTo>
                <a:moveTo>
                  <a:pt x="3463700" y="7600"/>
                </a:moveTo>
                <a:moveTo>
                  <a:pt x="3463700" y="7600"/>
                </a:moveTo>
                <a:moveTo>
                  <a:pt x="3463700" y="7600"/>
                </a:moveTo>
                <a:moveTo>
                  <a:pt x="3473200" y="8737"/>
                </a:moveTo>
              </a:path>
            </a:pathLst>
          </a:custGeom>
          <a:solidFill>
            <a:srgbClr val="FFFFFF"/>
          </a:solidFill>
          <a:ln w="7600" cap="flat">
            <a:solidFill>
              <a:srgbClr val="101843"/>
            </a:solidFill>
            <a:miter/>
          </a:ln>
        </p:spPr>
      </p:sp>
      <p:sp>
        <p:nvSpPr>
          <p:cNvPr id="149" name="Parallel Mode"/>
          <p:cNvSpPr/>
          <p:nvPr/>
        </p:nvSpPr>
        <p:spPr>
          <a:xfrm>
            <a:off x="2759400" y="3422171"/>
            <a:ext cx="3731600" cy="15200"/>
          </a:xfrm>
          <a:custGeom>
            <a:avLst/>
            <a:gdLst/>
            <a:ahLst/>
            <a:cxnLst/>
            <a:rect l="l" t="t" r="r" b="b"/>
            <a:pathLst>
              <a:path w="3731600" h="15200" fill="none">
                <a:moveTo>
                  <a:pt x="0" y="0"/>
                </a:moveTo>
                <a:lnTo>
                  <a:pt x="3731600" y="0"/>
                </a:lnTo>
                <a:lnTo>
                  <a:pt x="0" y="0"/>
                </a:lnTo>
                <a:close/>
                <a:moveTo>
                  <a:pt x="0" y="15200"/>
                </a:moveTo>
                <a:lnTo>
                  <a:pt x="3731600" y="15200"/>
                </a:lnTo>
                <a:moveTo>
                  <a:pt x="622058" y="7600"/>
                </a:moveTo>
                <a:moveTo>
                  <a:pt x="3109542" y="7600"/>
                </a:moveTo>
                <a:moveTo>
                  <a:pt x="1865800" y="7600"/>
                </a:moveTo>
                <a:moveTo>
                  <a:pt x="1865800" y="7600"/>
                </a:moveTo>
                <a:moveTo>
                  <a:pt x="1865800" y="7600"/>
                </a:moveTo>
                <a:moveTo>
                  <a:pt x="1870916" y="8737"/>
                </a:moveTo>
              </a:path>
            </a:pathLst>
          </a:custGeom>
          <a:solidFill>
            <a:srgbClr val="FFFFFF"/>
          </a:solidFill>
          <a:ln w="7600" cap="flat">
            <a:solidFill>
              <a:srgbClr val="101843"/>
            </a:solidFill>
            <a:miter/>
          </a:ln>
        </p:spPr>
      </p:sp>
      <p:sp>
        <p:nvSpPr>
          <p:cNvPr id="150" name="Rectangle"/>
          <p:cNvSpPr/>
          <p:nvPr/>
        </p:nvSpPr>
        <p:spPr>
          <a:xfrm>
            <a:off x="1083600" y="4761663"/>
            <a:ext cx="1102000" cy="440800"/>
          </a:xfrm>
          <a:custGeom>
            <a:avLst/>
            <a:gdLst/>
            <a:ahLst/>
            <a:cxnLst/>
            <a:rect l="l" t="t" r="r" b="b"/>
            <a:pathLst>
              <a:path w="1102000" h="440800" stroke="0">
                <a:moveTo>
                  <a:pt x="0" y="0"/>
                </a:moveTo>
                <a:lnTo>
                  <a:pt x="1102000" y="0"/>
                </a:lnTo>
                <a:lnTo>
                  <a:pt x="1102000" y="440800"/>
                </a:lnTo>
                <a:lnTo>
                  <a:pt x="0" y="440800"/>
                </a:lnTo>
                <a:lnTo>
                  <a:pt x="0" y="0"/>
                </a:lnTo>
                <a:close/>
              </a:path>
              <a:path w="1102000" h="440800" fill="none">
                <a:moveTo>
                  <a:pt x="0" y="0"/>
                </a:moveTo>
                <a:lnTo>
                  <a:pt x="1102000" y="0"/>
                </a:lnTo>
                <a:lnTo>
                  <a:pt x="1102000" y="440800"/>
                </a:lnTo>
                <a:lnTo>
                  <a:pt x="0" y="440800"/>
                </a:lnTo>
                <a:lnTo>
                  <a:pt x="0" y="0"/>
                </a:lnTo>
                <a:close/>
              </a:path>
            </a:pathLst>
          </a:custGeom>
          <a:noFill/>
          <a:ln w="7600" cap="flat">
            <a:noFill/>
            <a:miter/>
          </a:ln>
        </p:spPr>
        <p:txBody>
          <a:bodyPr wrap="square" lIns="38100" tIns="38100" rIns="38100" bIns="38100" rtlCol="0" anchor="ctr"/>
          <a:lstStyle/>
          <a:p>
            <a:pPr algn="l"/>
            <a:r>
              <a:rPr lang="zh-CN" altLang="en-US" sz="912" b="1" dirty="0">
                <a:solidFill>
                  <a:srgbClr val="191919"/>
                </a:solidFill>
                <a:latin typeface="Microsoft New Tai Lue"/>
                <a:ea typeface="Microsoft New Tai Lue"/>
                <a:cs typeface="Microsoft New Tai Lue"/>
              </a:rPr>
              <a:t>Digital</a:t>
            </a:r>
          </a:p>
        </p:txBody>
      </p:sp>
      <p:sp>
        <p:nvSpPr>
          <p:cNvPr id="151" name="Process"/>
          <p:cNvSpPr/>
          <p:nvPr/>
        </p:nvSpPr>
        <p:spPr>
          <a:xfrm>
            <a:off x="2805000" y="5239414"/>
            <a:ext cx="1147600" cy="688560"/>
          </a:xfrm>
          <a:custGeom>
            <a:avLst/>
            <a:gdLst>
              <a:gd name="connsiteX0" fmla="*/ 0 w 1147600"/>
              <a:gd name="connsiteY0" fmla="*/ 344280 h 688560"/>
              <a:gd name="connsiteX1" fmla="*/ 573800 w 1147600"/>
              <a:gd name="connsiteY1" fmla="*/ 0 h 688560"/>
              <a:gd name="connsiteX2" fmla="*/ 1147600 w 1147600"/>
              <a:gd name="connsiteY2" fmla="*/ 344280 h 688560"/>
              <a:gd name="connsiteX3" fmla="*/ 573800 w 1147600"/>
              <a:gd name="connsiteY3" fmla="*/ 688560 h 688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7600" h="688560" stroke="0">
                <a:moveTo>
                  <a:pt x="1147600" y="635360"/>
                </a:moveTo>
                <a:lnTo>
                  <a:pt x="1147600" y="53200"/>
                </a:lnTo>
                <a:cubicBezTo>
                  <a:pt x="1147600" y="23834"/>
                  <a:pt x="1123766" y="0"/>
                  <a:pt x="1094400" y="0"/>
                </a:cubicBezTo>
                <a:lnTo>
                  <a:pt x="53200" y="0"/>
                </a:lnTo>
                <a:cubicBezTo>
                  <a:pt x="23834" y="0"/>
                  <a:pt x="0" y="23834"/>
                  <a:pt x="0" y="53200"/>
                </a:cubicBezTo>
                <a:lnTo>
                  <a:pt x="0" y="635360"/>
                </a:lnTo>
                <a:cubicBezTo>
                  <a:pt x="0" y="664726"/>
                  <a:pt x="23834" y="688560"/>
                  <a:pt x="53200" y="688560"/>
                </a:cubicBezTo>
                <a:lnTo>
                  <a:pt x="1094400" y="688560"/>
                </a:lnTo>
                <a:cubicBezTo>
                  <a:pt x="1123766" y="688560"/>
                  <a:pt x="1147600" y="664726"/>
                  <a:pt x="1147600" y="635360"/>
                </a:cubicBezTo>
                <a:close/>
              </a:path>
              <a:path w="1147600" h="688560" fill="none">
                <a:moveTo>
                  <a:pt x="1147600" y="635360"/>
                </a:moveTo>
                <a:lnTo>
                  <a:pt x="1147600" y="53200"/>
                </a:lnTo>
                <a:cubicBezTo>
                  <a:pt x="1147600" y="23834"/>
                  <a:pt x="1123766" y="0"/>
                  <a:pt x="1094400" y="0"/>
                </a:cubicBezTo>
                <a:lnTo>
                  <a:pt x="53200" y="0"/>
                </a:lnTo>
                <a:cubicBezTo>
                  <a:pt x="23834" y="0"/>
                  <a:pt x="0" y="23834"/>
                  <a:pt x="0" y="53200"/>
                </a:cubicBezTo>
                <a:lnTo>
                  <a:pt x="0" y="635360"/>
                </a:lnTo>
                <a:cubicBezTo>
                  <a:pt x="0" y="664726"/>
                  <a:pt x="23834" y="688560"/>
                  <a:pt x="53200" y="688560"/>
                </a:cubicBezTo>
                <a:lnTo>
                  <a:pt x="1094400" y="688560"/>
                </a:lnTo>
                <a:cubicBezTo>
                  <a:pt x="1123766" y="688560"/>
                  <a:pt x="1147600" y="664726"/>
                  <a:pt x="1147600" y="635360"/>
                </a:cubicBezTo>
                <a:close/>
              </a:path>
            </a:pathLst>
          </a:custGeom>
          <a:solidFill>
            <a:srgbClr val="92D050"/>
          </a:solidFill>
          <a:ln w="7600" cap="flat">
            <a:solidFill>
              <a:srgbClr val="101843"/>
            </a:solidFill>
            <a:round/>
          </a:ln>
        </p:spPr>
        <p:txBody>
          <a:bodyPr wrap="square" lIns="38100" tIns="38100" rIns="38100" bIns="38100" rtlCol="0" anchor="ctr"/>
          <a:lstStyle/>
          <a:p>
            <a:pPr algn="ctr"/>
            <a:r>
              <a:rPr lang="zh-CN" altLang="en-US" sz="912" b="1" dirty="0">
                <a:solidFill>
                  <a:srgbClr val="191919"/>
                </a:solidFill>
                <a:latin typeface="Microsoft New Tai Lue"/>
                <a:ea typeface="Microsoft New Tai Lue"/>
                <a:cs typeface="Microsoft New Tai Lue"/>
              </a:rPr>
              <a:t>Availability</a:t>
            </a:r>
          </a:p>
          <a:p>
            <a:pPr algn="ctr"/>
            <a:r>
              <a:rPr lang="zh-CN" altLang="en-US" sz="912" b="1" dirty="0">
                <a:solidFill>
                  <a:srgbClr val="191919"/>
                </a:solidFill>
                <a:latin typeface="Microsoft New Tai Lue"/>
                <a:ea typeface="Microsoft New Tai Lue"/>
                <a:cs typeface="Microsoft New Tai Lue"/>
              </a:rPr>
              <a:t>100.0%</a:t>
            </a:r>
          </a:p>
        </p:txBody>
      </p:sp>
      <p:sp>
        <p:nvSpPr>
          <p:cNvPr id="152" name="Process"/>
          <p:cNvSpPr/>
          <p:nvPr/>
        </p:nvSpPr>
        <p:spPr>
          <a:xfrm>
            <a:off x="4097000" y="5239414"/>
            <a:ext cx="1147600" cy="688560"/>
          </a:xfrm>
          <a:custGeom>
            <a:avLst/>
            <a:gdLst>
              <a:gd name="connsiteX0" fmla="*/ 0 w 1147600"/>
              <a:gd name="connsiteY0" fmla="*/ 344280 h 688560"/>
              <a:gd name="connsiteX1" fmla="*/ 573800 w 1147600"/>
              <a:gd name="connsiteY1" fmla="*/ 0 h 688560"/>
              <a:gd name="connsiteX2" fmla="*/ 1147600 w 1147600"/>
              <a:gd name="connsiteY2" fmla="*/ 344280 h 688560"/>
              <a:gd name="connsiteX3" fmla="*/ 573800 w 1147600"/>
              <a:gd name="connsiteY3" fmla="*/ 688560 h 688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7600" h="688560" stroke="0">
                <a:moveTo>
                  <a:pt x="1147600" y="635360"/>
                </a:moveTo>
                <a:lnTo>
                  <a:pt x="1147600" y="53200"/>
                </a:lnTo>
                <a:cubicBezTo>
                  <a:pt x="1147600" y="23834"/>
                  <a:pt x="1123766" y="0"/>
                  <a:pt x="1094400" y="0"/>
                </a:cubicBezTo>
                <a:lnTo>
                  <a:pt x="53200" y="0"/>
                </a:lnTo>
                <a:cubicBezTo>
                  <a:pt x="23834" y="0"/>
                  <a:pt x="0" y="23834"/>
                  <a:pt x="0" y="53200"/>
                </a:cubicBezTo>
                <a:lnTo>
                  <a:pt x="0" y="635360"/>
                </a:lnTo>
                <a:cubicBezTo>
                  <a:pt x="0" y="664726"/>
                  <a:pt x="23834" y="688560"/>
                  <a:pt x="53200" y="688560"/>
                </a:cubicBezTo>
                <a:lnTo>
                  <a:pt x="1094400" y="688560"/>
                </a:lnTo>
                <a:cubicBezTo>
                  <a:pt x="1123766" y="688560"/>
                  <a:pt x="1147600" y="664726"/>
                  <a:pt x="1147600" y="635360"/>
                </a:cubicBezTo>
                <a:close/>
              </a:path>
              <a:path w="1147600" h="688560" fill="none">
                <a:moveTo>
                  <a:pt x="1147600" y="635360"/>
                </a:moveTo>
                <a:lnTo>
                  <a:pt x="1147600" y="53200"/>
                </a:lnTo>
                <a:cubicBezTo>
                  <a:pt x="1147600" y="23834"/>
                  <a:pt x="1123766" y="0"/>
                  <a:pt x="1094400" y="0"/>
                </a:cubicBezTo>
                <a:lnTo>
                  <a:pt x="53200" y="0"/>
                </a:lnTo>
                <a:cubicBezTo>
                  <a:pt x="23834" y="0"/>
                  <a:pt x="0" y="23834"/>
                  <a:pt x="0" y="53200"/>
                </a:cubicBezTo>
                <a:lnTo>
                  <a:pt x="0" y="635360"/>
                </a:lnTo>
                <a:cubicBezTo>
                  <a:pt x="0" y="664726"/>
                  <a:pt x="23834" y="688560"/>
                  <a:pt x="53200" y="688560"/>
                </a:cubicBezTo>
                <a:lnTo>
                  <a:pt x="1094400" y="688560"/>
                </a:lnTo>
                <a:cubicBezTo>
                  <a:pt x="1123766" y="688560"/>
                  <a:pt x="1147600" y="664726"/>
                  <a:pt x="1147600" y="635360"/>
                </a:cubicBezTo>
                <a:close/>
              </a:path>
            </a:pathLst>
          </a:custGeom>
          <a:solidFill>
            <a:srgbClr val="92D050"/>
          </a:solidFill>
          <a:ln w="7600" cap="flat">
            <a:solidFill>
              <a:srgbClr val="101843"/>
            </a:solidFill>
            <a:round/>
          </a:ln>
        </p:spPr>
        <p:txBody>
          <a:bodyPr wrap="square" lIns="38100" tIns="38100" rIns="38100" bIns="38100" rtlCol="0" anchor="ctr"/>
          <a:lstStyle/>
          <a:p>
            <a:pPr algn="ctr"/>
            <a:r>
              <a:rPr lang="zh-CN" altLang="en-US" sz="912" b="1" dirty="0">
                <a:solidFill>
                  <a:srgbClr val="191919"/>
                </a:solidFill>
                <a:latin typeface="Microsoft New Tai Lue"/>
                <a:ea typeface="Microsoft New Tai Lue"/>
                <a:cs typeface="Microsoft New Tai Lue"/>
              </a:rPr>
              <a:t>Availability</a:t>
            </a:r>
          </a:p>
          <a:p>
            <a:pPr algn="ctr"/>
            <a:r>
              <a:rPr lang="zh-CN" altLang="en-US" sz="912" b="1" dirty="0">
                <a:solidFill>
                  <a:srgbClr val="191919"/>
                </a:solidFill>
                <a:latin typeface="Microsoft New Tai Lue"/>
                <a:ea typeface="Microsoft New Tai Lue"/>
                <a:cs typeface="Microsoft New Tai Lue"/>
              </a:rPr>
              <a:t>99.6%</a:t>
            </a:r>
          </a:p>
        </p:txBody>
      </p:sp>
      <p:sp>
        <p:nvSpPr>
          <p:cNvPr id="153" name="Rectangle"/>
          <p:cNvSpPr/>
          <p:nvPr/>
        </p:nvSpPr>
        <p:spPr>
          <a:xfrm>
            <a:off x="2805000" y="5837921"/>
            <a:ext cx="1147600" cy="440800"/>
          </a:xfrm>
          <a:custGeom>
            <a:avLst/>
            <a:gdLst>
              <a:gd name="connsiteX0" fmla="*/ 573800 w 1147600"/>
              <a:gd name="connsiteY0" fmla="*/ 440800 h 440800"/>
            </a:gdLst>
            <a:ahLst/>
            <a:cxnLst>
              <a:cxn ang="0">
                <a:pos x="connsiteX0" y="connsiteY0"/>
              </a:cxn>
            </a:cxnLst>
            <a:rect l="l" t="t" r="r" b="b"/>
            <a:pathLst>
              <a:path w="1147600" h="440800" stroke="0">
                <a:moveTo>
                  <a:pt x="0" y="0"/>
                </a:moveTo>
                <a:lnTo>
                  <a:pt x="1147600" y="0"/>
                </a:lnTo>
                <a:lnTo>
                  <a:pt x="1147600" y="440800"/>
                </a:lnTo>
                <a:lnTo>
                  <a:pt x="0" y="440800"/>
                </a:lnTo>
                <a:lnTo>
                  <a:pt x="0" y="0"/>
                </a:lnTo>
                <a:close/>
              </a:path>
              <a:path w="1147600" h="440800" fill="none">
                <a:moveTo>
                  <a:pt x="0" y="0"/>
                </a:moveTo>
                <a:lnTo>
                  <a:pt x="1147600" y="0"/>
                </a:lnTo>
                <a:lnTo>
                  <a:pt x="1147600" y="440800"/>
                </a:lnTo>
                <a:lnTo>
                  <a:pt x="0" y="440800"/>
                </a:lnTo>
                <a:lnTo>
                  <a:pt x="0" y="0"/>
                </a:lnTo>
                <a:close/>
              </a:path>
            </a:pathLst>
          </a:custGeom>
          <a:noFill/>
          <a:ln w="7600" cap="flat">
            <a:noFill/>
            <a:miter/>
          </a:ln>
        </p:spPr>
        <p:txBody>
          <a:bodyPr wrap="square" lIns="38100" tIns="38100" rIns="38100" bIns="38100" rtlCol="0" anchor="ctr"/>
          <a:lstStyle/>
          <a:p>
            <a:pPr algn="ctr"/>
            <a:r>
              <a:rPr lang="zh-CN" altLang="en-US" sz="912" b="1" u="sng" dirty="0">
                <a:solidFill>
                  <a:srgbClr val="191919"/>
                </a:solidFill>
                <a:latin typeface="Microsoft New Tai Lue"/>
                <a:ea typeface="Microsoft New Tai Lue"/>
                <a:cs typeface="Microsoft New Tai Lue"/>
              </a:rPr>
              <a:t>WEB</a:t>
            </a:r>
          </a:p>
        </p:txBody>
      </p:sp>
      <p:sp>
        <p:nvSpPr>
          <p:cNvPr id="154" name="Rectangle"/>
          <p:cNvSpPr/>
          <p:nvPr/>
        </p:nvSpPr>
        <p:spPr>
          <a:xfrm>
            <a:off x="4097000" y="5837921"/>
            <a:ext cx="1193200" cy="440800"/>
          </a:xfrm>
          <a:custGeom>
            <a:avLst/>
            <a:gdLst/>
            <a:ahLst/>
            <a:cxnLst/>
            <a:rect l="l" t="t" r="r" b="b"/>
            <a:pathLst>
              <a:path w="1193200" h="440800" stroke="0">
                <a:moveTo>
                  <a:pt x="0" y="0"/>
                </a:moveTo>
                <a:lnTo>
                  <a:pt x="1193200" y="0"/>
                </a:lnTo>
                <a:lnTo>
                  <a:pt x="1193200" y="440800"/>
                </a:lnTo>
                <a:lnTo>
                  <a:pt x="0" y="440800"/>
                </a:lnTo>
                <a:lnTo>
                  <a:pt x="0" y="0"/>
                </a:lnTo>
                <a:close/>
              </a:path>
              <a:path w="1193200" h="440800" fill="none">
                <a:moveTo>
                  <a:pt x="0" y="0"/>
                </a:moveTo>
                <a:lnTo>
                  <a:pt x="1193200" y="0"/>
                </a:lnTo>
                <a:lnTo>
                  <a:pt x="1193200" y="440800"/>
                </a:lnTo>
                <a:lnTo>
                  <a:pt x="0" y="440800"/>
                </a:lnTo>
                <a:lnTo>
                  <a:pt x="0" y="0"/>
                </a:lnTo>
                <a:close/>
              </a:path>
            </a:pathLst>
          </a:custGeom>
          <a:noFill/>
          <a:ln w="7600" cap="flat">
            <a:noFill/>
            <a:miter/>
          </a:ln>
        </p:spPr>
        <p:txBody>
          <a:bodyPr wrap="square" lIns="38100" tIns="38100" rIns="38100" bIns="38100" rtlCol="0" anchor="ctr"/>
          <a:lstStyle/>
          <a:p>
            <a:pPr algn="ctr"/>
            <a:r>
              <a:rPr lang="zh-CN" altLang="en-US" sz="912" b="1" u="sng" dirty="0">
                <a:solidFill>
                  <a:srgbClr val="191919"/>
                </a:solidFill>
                <a:latin typeface="Microsoft New Tai Lue"/>
                <a:ea typeface="Microsoft New Tai Lue"/>
                <a:cs typeface="Microsoft New Tai Lue"/>
              </a:rPr>
              <a:t>MOBILE</a:t>
            </a:r>
          </a:p>
        </p:txBody>
      </p:sp>
      <p:sp>
        <p:nvSpPr>
          <p:cNvPr id="155" name="Parallel Mode"/>
          <p:cNvSpPr/>
          <p:nvPr/>
        </p:nvSpPr>
        <p:spPr>
          <a:xfrm>
            <a:off x="1083600" y="6263521"/>
            <a:ext cx="6927400" cy="15200"/>
          </a:xfrm>
          <a:custGeom>
            <a:avLst/>
            <a:gdLst/>
            <a:ahLst/>
            <a:cxnLst/>
            <a:rect l="l" t="t" r="r" b="b"/>
            <a:pathLst>
              <a:path w="6927400" h="15200" fill="none">
                <a:moveTo>
                  <a:pt x="0" y="0"/>
                </a:moveTo>
                <a:lnTo>
                  <a:pt x="6927400" y="0"/>
                </a:lnTo>
                <a:lnTo>
                  <a:pt x="0" y="0"/>
                </a:lnTo>
                <a:close/>
                <a:moveTo>
                  <a:pt x="0" y="15200"/>
                </a:moveTo>
                <a:lnTo>
                  <a:pt x="6927400" y="15200"/>
                </a:lnTo>
                <a:moveTo>
                  <a:pt x="1154797" y="7600"/>
                </a:moveTo>
                <a:moveTo>
                  <a:pt x="5772603" y="7600"/>
                </a:moveTo>
                <a:moveTo>
                  <a:pt x="3463700" y="7600"/>
                </a:moveTo>
                <a:moveTo>
                  <a:pt x="3463700" y="7600"/>
                </a:moveTo>
                <a:moveTo>
                  <a:pt x="3463700" y="7600"/>
                </a:moveTo>
                <a:moveTo>
                  <a:pt x="3473200" y="8737"/>
                </a:moveTo>
              </a:path>
            </a:pathLst>
          </a:custGeom>
          <a:solidFill>
            <a:srgbClr val="FFFFFF"/>
          </a:solidFill>
          <a:ln w="7600" cap="flat">
            <a:solidFill>
              <a:srgbClr val="101843"/>
            </a:solidFill>
            <a:miter/>
          </a:ln>
        </p:spPr>
      </p:sp>
      <p:sp>
        <p:nvSpPr>
          <p:cNvPr id="156" name="Rectangle"/>
          <p:cNvSpPr/>
          <p:nvPr/>
        </p:nvSpPr>
        <p:spPr>
          <a:xfrm>
            <a:off x="1106400" y="6278721"/>
            <a:ext cx="1102000" cy="440800"/>
          </a:xfrm>
          <a:custGeom>
            <a:avLst/>
            <a:gdLst>
              <a:gd name="connsiteX0" fmla="*/ 1102000 w 1102000"/>
              <a:gd name="connsiteY0" fmla="*/ 220400 h 440800"/>
            </a:gdLst>
            <a:ahLst/>
            <a:cxnLst>
              <a:cxn ang="0">
                <a:pos x="connsiteX0" y="connsiteY0"/>
              </a:cxn>
            </a:cxnLst>
            <a:rect l="l" t="t" r="r" b="b"/>
            <a:pathLst>
              <a:path w="1102000" h="440800" stroke="0">
                <a:moveTo>
                  <a:pt x="0" y="0"/>
                </a:moveTo>
                <a:lnTo>
                  <a:pt x="1102000" y="0"/>
                </a:lnTo>
                <a:lnTo>
                  <a:pt x="1102000" y="440800"/>
                </a:lnTo>
                <a:lnTo>
                  <a:pt x="0" y="440800"/>
                </a:lnTo>
                <a:lnTo>
                  <a:pt x="0" y="0"/>
                </a:lnTo>
                <a:close/>
              </a:path>
              <a:path w="1102000" h="440800" fill="none">
                <a:moveTo>
                  <a:pt x="0" y="0"/>
                </a:moveTo>
                <a:lnTo>
                  <a:pt x="1102000" y="0"/>
                </a:lnTo>
                <a:lnTo>
                  <a:pt x="1102000" y="440800"/>
                </a:lnTo>
                <a:lnTo>
                  <a:pt x="0" y="440800"/>
                </a:lnTo>
                <a:lnTo>
                  <a:pt x="0" y="0"/>
                </a:lnTo>
                <a:close/>
              </a:path>
            </a:pathLst>
          </a:custGeom>
          <a:noFill/>
          <a:ln w="7600" cap="flat">
            <a:noFill/>
            <a:miter/>
          </a:ln>
        </p:spPr>
        <p:txBody>
          <a:bodyPr wrap="square" lIns="38100" tIns="38100" rIns="38100" bIns="38100" rtlCol="0" anchor="ctr"/>
          <a:lstStyle/>
          <a:p>
            <a:pPr algn="l"/>
            <a:r>
              <a:rPr lang="zh-CN" altLang="en-US" sz="912" b="1" dirty="0">
                <a:solidFill>
                  <a:srgbClr val="191919"/>
                </a:solidFill>
                <a:latin typeface="Microsoft New Tai Lue"/>
                <a:ea typeface="Microsoft New Tai Lue"/>
                <a:cs typeface="Microsoft New Tai Lue"/>
              </a:rPr>
              <a:t>Claims</a:t>
            </a:r>
          </a:p>
        </p:txBody>
      </p:sp>
      <p:sp>
        <p:nvSpPr>
          <p:cNvPr id="157" name="Process"/>
          <p:cNvSpPr/>
          <p:nvPr/>
        </p:nvSpPr>
        <p:spPr>
          <a:xfrm>
            <a:off x="2805000" y="6644271"/>
            <a:ext cx="1147600" cy="688560"/>
          </a:xfrm>
          <a:custGeom>
            <a:avLst/>
            <a:gdLst>
              <a:gd name="connsiteX0" fmla="*/ 0 w 1147600"/>
              <a:gd name="connsiteY0" fmla="*/ 344280 h 688560"/>
              <a:gd name="connsiteX1" fmla="*/ 573800 w 1147600"/>
              <a:gd name="connsiteY1" fmla="*/ 0 h 688560"/>
              <a:gd name="connsiteX2" fmla="*/ 1147600 w 1147600"/>
              <a:gd name="connsiteY2" fmla="*/ 344280 h 688560"/>
              <a:gd name="connsiteX3" fmla="*/ 573800 w 1147600"/>
              <a:gd name="connsiteY3" fmla="*/ 688560 h 688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7600" h="688560" stroke="0">
                <a:moveTo>
                  <a:pt x="1147600" y="635360"/>
                </a:moveTo>
                <a:lnTo>
                  <a:pt x="1147600" y="53200"/>
                </a:lnTo>
                <a:cubicBezTo>
                  <a:pt x="1147600" y="23834"/>
                  <a:pt x="1123766" y="0"/>
                  <a:pt x="1094400" y="0"/>
                </a:cubicBezTo>
                <a:lnTo>
                  <a:pt x="53200" y="0"/>
                </a:lnTo>
                <a:cubicBezTo>
                  <a:pt x="23834" y="0"/>
                  <a:pt x="0" y="23834"/>
                  <a:pt x="0" y="53200"/>
                </a:cubicBezTo>
                <a:lnTo>
                  <a:pt x="0" y="635360"/>
                </a:lnTo>
                <a:cubicBezTo>
                  <a:pt x="0" y="664726"/>
                  <a:pt x="23834" y="688560"/>
                  <a:pt x="53200" y="688560"/>
                </a:cubicBezTo>
                <a:lnTo>
                  <a:pt x="1094400" y="688560"/>
                </a:lnTo>
                <a:cubicBezTo>
                  <a:pt x="1123766" y="688560"/>
                  <a:pt x="1147600" y="664726"/>
                  <a:pt x="1147600" y="635360"/>
                </a:cubicBezTo>
                <a:close/>
              </a:path>
              <a:path w="1147600" h="688560" fill="none">
                <a:moveTo>
                  <a:pt x="1147600" y="635360"/>
                </a:moveTo>
                <a:lnTo>
                  <a:pt x="1147600" y="53200"/>
                </a:lnTo>
                <a:cubicBezTo>
                  <a:pt x="1147600" y="23834"/>
                  <a:pt x="1123766" y="0"/>
                  <a:pt x="1094400" y="0"/>
                </a:cubicBezTo>
                <a:lnTo>
                  <a:pt x="53200" y="0"/>
                </a:lnTo>
                <a:cubicBezTo>
                  <a:pt x="23834" y="0"/>
                  <a:pt x="0" y="23834"/>
                  <a:pt x="0" y="53200"/>
                </a:cubicBezTo>
                <a:lnTo>
                  <a:pt x="0" y="635360"/>
                </a:lnTo>
                <a:cubicBezTo>
                  <a:pt x="0" y="664726"/>
                  <a:pt x="23834" y="688560"/>
                  <a:pt x="53200" y="688560"/>
                </a:cubicBezTo>
                <a:lnTo>
                  <a:pt x="1094400" y="688560"/>
                </a:lnTo>
                <a:cubicBezTo>
                  <a:pt x="1123766" y="688560"/>
                  <a:pt x="1147600" y="664726"/>
                  <a:pt x="1147600" y="635360"/>
                </a:cubicBezTo>
                <a:close/>
              </a:path>
            </a:pathLst>
          </a:custGeom>
          <a:solidFill>
            <a:srgbClr val="92D050"/>
          </a:solidFill>
          <a:ln w="7600" cap="flat">
            <a:solidFill>
              <a:srgbClr val="101843"/>
            </a:solidFill>
            <a:round/>
          </a:ln>
        </p:spPr>
        <p:txBody>
          <a:bodyPr wrap="square" lIns="38100" tIns="38100" rIns="38100" bIns="38100" rtlCol="0" anchor="ctr"/>
          <a:lstStyle/>
          <a:p>
            <a:pPr algn="ctr"/>
            <a:r>
              <a:rPr lang="zh-CN" altLang="en-US" sz="912" b="1" dirty="0">
                <a:solidFill>
                  <a:srgbClr val="191919"/>
                </a:solidFill>
                <a:latin typeface="Microsoft New Tai Lue"/>
                <a:ea typeface="Microsoft New Tai Lue"/>
                <a:cs typeface="Microsoft New Tai Lue"/>
              </a:rPr>
              <a:t>Availability</a:t>
            </a:r>
          </a:p>
          <a:p>
            <a:pPr algn="ctr"/>
            <a:r>
              <a:rPr lang="zh-CN" altLang="en-US" sz="912" b="1" dirty="0">
                <a:solidFill>
                  <a:srgbClr val="191919"/>
                </a:solidFill>
                <a:latin typeface="Microsoft New Tai Lue"/>
                <a:ea typeface="Microsoft New Tai Lue"/>
                <a:cs typeface="Microsoft New Tai Lue"/>
              </a:rPr>
              <a:t>100.0%</a:t>
            </a:r>
          </a:p>
        </p:txBody>
      </p:sp>
      <p:sp>
        <p:nvSpPr>
          <p:cNvPr id="158" name="Process"/>
          <p:cNvSpPr/>
          <p:nvPr/>
        </p:nvSpPr>
        <p:spPr>
          <a:xfrm>
            <a:off x="4097000" y="6644271"/>
            <a:ext cx="1147600" cy="688560"/>
          </a:xfrm>
          <a:custGeom>
            <a:avLst/>
            <a:gdLst>
              <a:gd name="connsiteX0" fmla="*/ 0 w 1147600"/>
              <a:gd name="connsiteY0" fmla="*/ 344280 h 688560"/>
              <a:gd name="connsiteX1" fmla="*/ 573800 w 1147600"/>
              <a:gd name="connsiteY1" fmla="*/ 0 h 688560"/>
              <a:gd name="connsiteX2" fmla="*/ 1147600 w 1147600"/>
              <a:gd name="connsiteY2" fmla="*/ 344280 h 688560"/>
              <a:gd name="connsiteX3" fmla="*/ 573800 w 1147600"/>
              <a:gd name="connsiteY3" fmla="*/ 688560 h 688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7600" h="688560" stroke="0">
                <a:moveTo>
                  <a:pt x="1147600" y="635360"/>
                </a:moveTo>
                <a:lnTo>
                  <a:pt x="1147600" y="53200"/>
                </a:lnTo>
                <a:cubicBezTo>
                  <a:pt x="1147600" y="23834"/>
                  <a:pt x="1123766" y="0"/>
                  <a:pt x="1094400" y="0"/>
                </a:cubicBezTo>
                <a:lnTo>
                  <a:pt x="53200" y="0"/>
                </a:lnTo>
                <a:cubicBezTo>
                  <a:pt x="23834" y="0"/>
                  <a:pt x="0" y="23834"/>
                  <a:pt x="0" y="53200"/>
                </a:cubicBezTo>
                <a:lnTo>
                  <a:pt x="0" y="635360"/>
                </a:lnTo>
                <a:cubicBezTo>
                  <a:pt x="0" y="664726"/>
                  <a:pt x="23834" y="688560"/>
                  <a:pt x="53200" y="688560"/>
                </a:cubicBezTo>
                <a:lnTo>
                  <a:pt x="1094400" y="688560"/>
                </a:lnTo>
                <a:cubicBezTo>
                  <a:pt x="1123766" y="688560"/>
                  <a:pt x="1147600" y="664726"/>
                  <a:pt x="1147600" y="635360"/>
                </a:cubicBezTo>
                <a:close/>
              </a:path>
              <a:path w="1147600" h="688560" fill="none">
                <a:moveTo>
                  <a:pt x="1147600" y="635360"/>
                </a:moveTo>
                <a:lnTo>
                  <a:pt x="1147600" y="53200"/>
                </a:lnTo>
                <a:cubicBezTo>
                  <a:pt x="1147600" y="23834"/>
                  <a:pt x="1123766" y="0"/>
                  <a:pt x="1094400" y="0"/>
                </a:cubicBezTo>
                <a:lnTo>
                  <a:pt x="53200" y="0"/>
                </a:lnTo>
                <a:cubicBezTo>
                  <a:pt x="23834" y="0"/>
                  <a:pt x="0" y="23834"/>
                  <a:pt x="0" y="53200"/>
                </a:cubicBezTo>
                <a:lnTo>
                  <a:pt x="0" y="635360"/>
                </a:lnTo>
                <a:cubicBezTo>
                  <a:pt x="0" y="664726"/>
                  <a:pt x="23834" y="688560"/>
                  <a:pt x="53200" y="688560"/>
                </a:cubicBezTo>
                <a:lnTo>
                  <a:pt x="1094400" y="688560"/>
                </a:lnTo>
                <a:cubicBezTo>
                  <a:pt x="1123766" y="688560"/>
                  <a:pt x="1147600" y="664726"/>
                  <a:pt x="1147600" y="635360"/>
                </a:cubicBezTo>
                <a:close/>
              </a:path>
            </a:pathLst>
          </a:custGeom>
          <a:solidFill>
            <a:srgbClr val="92D050"/>
          </a:solidFill>
          <a:ln w="7600" cap="flat">
            <a:solidFill>
              <a:srgbClr val="101843"/>
            </a:solidFill>
            <a:round/>
          </a:ln>
        </p:spPr>
        <p:txBody>
          <a:bodyPr wrap="square" lIns="38100" tIns="38100" rIns="38100" bIns="38100" rtlCol="0" anchor="ctr"/>
          <a:lstStyle/>
          <a:p>
            <a:pPr algn="ctr"/>
            <a:r>
              <a:rPr lang="zh-CN" altLang="en-US" sz="912" b="1" dirty="0">
                <a:solidFill>
                  <a:srgbClr val="191919"/>
                </a:solidFill>
                <a:latin typeface="Microsoft New Tai Lue"/>
                <a:ea typeface="Microsoft New Tai Lue"/>
                <a:cs typeface="Microsoft New Tai Lue"/>
              </a:rPr>
              <a:t>Availability</a:t>
            </a:r>
          </a:p>
          <a:p>
            <a:pPr algn="ctr"/>
            <a:r>
              <a:rPr lang="zh-CN" altLang="en-US" sz="912" b="1" dirty="0">
                <a:solidFill>
                  <a:srgbClr val="191919"/>
                </a:solidFill>
                <a:latin typeface="Microsoft New Tai Lue"/>
                <a:ea typeface="Microsoft New Tai Lue"/>
                <a:cs typeface="Microsoft New Tai Lue"/>
              </a:rPr>
              <a:t>99.6%</a:t>
            </a:r>
          </a:p>
        </p:txBody>
      </p:sp>
      <p:sp>
        <p:nvSpPr>
          <p:cNvPr id="159" name="Rectangle"/>
          <p:cNvSpPr/>
          <p:nvPr/>
        </p:nvSpPr>
        <p:spPr>
          <a:xfrm>
            <a:off x="2805000" y="7242778"/>
            <a:ext cx="1147600" cy="440800"/>
          </a:xfrm>
          <a:custGeom>
            <a:avLst/>
            <a:gdLst>
              <a:gd name="connsiteX0" fmla="*/ 0 w 1147600"/>
              <a:gd name="connsiteY0" fmla="*/ 220400 h 440800"/>
            </a:gdLst>
            <a:ahLst/>
            <a:cxnLst>
              <a:cxn ang="0">
                <a:pos x="connsiteX0" y="connsiteY0"/>
              </a:cxn>
            </a:cxnLst>
            <a:rect l="l" t="t" r="r" b="b"/>
            <a:pathLst>
              <a:path w="1147600" h="440800" stroke="0">
                <a:moveTo>
                  <a:pt x="0" y="0"/>
                </a:moveTo>
                <a:lnTo>
                  <a:pt x="1147600" y="0"/>
                </a:lnTo>
                <a:lnTo>
                  <a:pt x="1147600" y="440800"/>
                </a:lnTo>
                <a:lnTo>
                  <a:pt x="0" y="440800"/>
                </a:lnTo>
                <a:lnTo>
                  <a:pt x="0" y="0"/>
                </a:lnTo>
                <a:close/>
              </a:path>
              <a:path w="1147600" h="440800" fill="none">
                <a:moveTo>
                  <a:pt x="0" y="0"/>
                </a:moveTo>
                <a:lnTo>
                  <a:pt x="1147600" y="0"/>
                </a:lnTo>
                <a:lnTo>
                  <a:pt x="1147600" y="440800"/>
                </a:lnTo>
                <a:lnTo>
                  <a:pt x="0" y="440800"/>
                </a:lnTo>
                <a:lnTo>
                  <a:pt x="0" y="0"/>
                </a:lnTo>
                <a:close/>
              </a:path>
            </a:pathLst>
          </a:custGeom>
          <a:noFill/>
          <a:ln w="7600" cap="flat">
            <a:noFill/>
            <a:miter/>
          </a:ln>
        </p:spPr>
        <p:txBody>
          <a:bodyPr wrap="square" lIns="38100" tIns="38100" rIns="38100" bIns="38100" rtlCol="0" anchor="ctr"/>
          <a:lstStyle/>
          <a:p>
            <a:pPr algn="ctr"/>
            <a:r>
              <a:rPr lang="zh-CN" altLang="en-US" sz="912" b="1" u="sng" dirty="0">
                <a:solidFill>
                  <a:srgbClr val="191919"/>
                </a:solidFill>
                <a:latin typeface="Microsoft New Tai Lue"/>
                <a:ea typeface="Microsoft New Tai Lue"/>
                <a:cs typeface="Microsoft New Tai Lue"/>
              </a:rPr>
              <a:t>Provision</a:t>
            </a:r>
          </a:p>
        </p:txBody>
      </p:sp>
      <p:sp>
        <p:nvSpPr>
          <p:cNvPr id="160" name="Rectangle"/>
          <p:cNvSpPr/>
          <p:nvPr/>
        </p:nvSpPr>
        <p:spPr>
          <a:xfrm>
            <a:off x="4097000" y="7242778"/>
            <a:ext cx="1193200" cy="440800"/>
          </a:xfrm>
          <a:custGeom>
            <a:avLst/>
            <a:gdLst/>
            <a:ahLst/>
            <a:cxnLst/>
            <a:rect l="l" t="t" r="r" b="b"/>
            <a:pathLst>
              <a:path w="1193200" h="440800" stroke="0">
                <a:moveTo>
                  <a:pt x="0" y="0"/>
                </a:moveTo>
                <a:lnTo>
                  <a:pt x="1193200" y="0"/>
                </a:lnTo>
                <a:lnTo>
                  <a:pt x="1193200" y="440800"/>
                </a:lnTo>
                <a:lnTo>
                  <a:pt x="0" y="440800"/>
                </a:lnTo>
                <a:lnTo>
                  <a:pt x="0" y="0"/>
                </a:lnTo>
                <a:close/>
              </a:path>
              <a:path w="1193200" h="440800" fill="none">
                <a:moveTo>
                  <a:pt x="0" y="0"/>
                </a:moveTo>
                <a:lnTo>
                  <a:pt x="1193200" y="0"/>
                </a:lnTo>
                <a:lnTo>
                  <a:pt x="1193200" y="440800"/>
                </a:lnTo>
                <a:lnTo>
                  <a:pt x="0" y="440800"/>
                </a:lnTo>
                <a:lnTo>
                  <a:pt x="0" y="0"/>
                </a:lnTo>
                <a:close/>
              </a:path>
            </a:pathLst>
          </a:custGeom>
          <a:noFill/>
          <a:ln w="7600" cap="flat">
            <a:noFill/>
            <a:miter/>
          </a:ln>
        </p:spPr>
        <p:txBody>
          <a:bodyPr wrap="square" lIns="38100" tIns="38100" rIns="38100" bIns="38100" rtlCol="0" anchor="ctr"/>
          <a:lstStyle/>
          <a:p>
            <a:pPr algn="ctr"/>
            <a:r>
              <a:rPr lang="zh-CN" altLang="en-US" sz="912" b="1" u="sng" dirty="0">
                <a:solidFill>
                  <a:srgbClr val="191919"/>
                </a:solidFill>
                <a:latin typeface="Microsoft New Tai Lue"/>
                <a:ea typeface="Microsoft New Tai Lue"/>
                <a:cs typeface="Microsoft New Tai Lue"/>
              </a:rPr>
              <a:t>P&amp;C Claim</a:t>
            </a:r>
          </a:p>
        </p:txBody>
      </p:sp>
      <p:grpSp>
        <p:nvGrpSpPr>
          <p:cNvPr id="170" name="Grup 169"/>
          <p:cNvGrpSpPr/>
          <p:nvPr/>
        </p:nvGrpSpPr>
        <p:grpSpPr>
          <a:xfrm>
            <a:off x="1224200" y="6644271"/>
            <a:ext cx="1147600" cy="756960"/>
            <a:chOff x="1224200" y="6644271"/>
            <a:chExt cx="1147600" cy="756960"/>
          </a:xfrm>
        </p:grpSpPr>
        <p:sp>
          <p:nvSpPr>
            <p:cNvPr id="166" name="Process"/>
            <p:cNvSpPr/>
            <p:nvPr/>
          </p:nvSpPr>
          <p:spPr>
            <a:xfrm>
              <a:off x="1224200" y="6644271"/>
              <a:ext cx="1147600" cy="756960"/>
            </a:xfrm>
            <a:custGeom>
              <a:avLst/>
              <a:gdLst>
                <a:gd name="connsiteX0" fmla="*/ 0 w 1147600"/>
                <a:gd name="connsiteY0" fmla="*/ 378480 h 756960"/>
                <a:gd name="connsiteX1" fmla="*/ 573800 w 1147600"/>
                <a:gd name="connsiteY1" fmla="*/ 0 h 756960"/>
                <a:gd name="connsiteX2" fmla="*/ 1147600 w 1147600"/>
                <a:gd name="connsiteY2" fmla="*/ 378480 h 756960"/>
                <a:gd name="connsiteX3" fmla="*/ 573800 w 1147600"/>
                <a:gd name="connsiteY3" fmla="*/ 756960 h 756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7600" h="756960" stroke="0">
                  <a:moveTo>
                    <a:pt x="1147600" y="703760"/>
                  </a:moveTo>
                  <a:lnTo>
                    <a:pt x="1147600" y="53200"/>
                  </a:lnTo>
                  <a:cubicBezTo>
                    <a:pt x="1147600" y="23834"/>
                    <a:pt x="1123766" y="0"/>
                    <a:pt x="1094400" y="0"/>
                  </a:cubicBezTo>
                  <a:lnTo>
                    <a:pt x="53200" y="0"/>
                  </a:lnTo>
                  <a:cubicBezTo>
                    <a:pt x="23834" y="0"/>
                    <a:pt x="0" y="23834"/>
                    <a:pt x="0" y="53200"/>
                  </a:cubicBezTo>
                  <a:lnTo>
                    <a:pt x="0" y="703760"/>
                  </a:lnTo>
                  <a:cubicBezTo>
                    <a:pt x="0" y="733126"/>
                    <a:pt x="23834" y="756960"/>
                    <a:pt x="53200" y="756960"/>
                  </a:cubicBezTo>
                  <a:lnTo>
                    <a:pt x="1094400" y="756960"/>
                  </a:lnTo>
                  <a:cubicBezTo>
                    <a:pt x="1123766" y="756960"/>
                    <a:pt x="1147600" y="733126"/>
                    <a:pt x="1147600" y="703760"/>
                  </a:cubicBezTo>
                  <a:close/>
                </a:path>
                <a:path w="1147600" h="756960" fill="none">
                  <a:moveTo>
                    <a:pt x="1147600" y="703760"/>
                  </a:moveTo>
                  <a:lnTo>
                    <a:pt x="1147600" y="53200"/>
                  </a:lnTo>
                  <a:cubicBezTo>
                    <a:pt x="1147600" y="23834"/>
                    <a:pt x="1123766" y="0"/>
                    <a:pt x="1094400" y="0"/>
                  </a:cubicBezTo>
                  <a:lnTo>
                    <a:pt x="53200" y="0"/>
                  </a:lnTo>
                  <a:cubicBezTo>
                    <a:pt x="23834" y="0"/>
                    <a:pt x="0" y="23834"/>
                    <a:pt x="0" y="53200"/>
                  </a:cubicBezTo>
                  <a:lnTo>
                    <a:pt x="0" y="703760"/>
                  </a:lnTo>
                  <a:cubicBezTo>
                    <a:pt x="0" y="733126"/>
                    <a:pt x="23834" y="756960"/>
                    <a:pt x="53200" y="756960"/>
                  </a:cubicBezTo>
                  <a:lnTo>
                    <a:pt x="1094400" y="756960"/>
                  </a:lnTo>
                  <a:cubicBezTo>
                    <a:pt x="1123766" y="756960"/>
                    <a:pt x="1147600" y="733126"/>
                    <a:pt x="1147600" y="703760"/>
                  </a:cubicBezTo>
                  <a:close/>
                </a:path>
              </a:pathLst>
            </a:custGeom>
            <a:solidFill>
              <a:srgbClr val="EBEBEB"/>
            </a:solidFill>
            <a:ln w="7600" cap="flat">
              <a:solidFill>
                <a:srgbClr val="101843"/>
              </a:solidFill>
              <a:round/>
            </a:ln>
          </p:spPr>
          <p:txBody>
            <a:bodyPr wrap="square" lIns="38100" tIns="38100" rIns="38100" bIns="38100" rtlCol="0" anchor="ctr"/>
            <a:lstStyle/>
            <a:p>
              <a:pPr algn="ctr"/>
              <a:r>
                <a:rPr lang="zh-CN" altLang="en-US" sz="912" b="1" dirty="0">
                  <a:solidFill>
                    <a:srgbClr val="191919"/>
                  </a:solidFill>
                  <a:latin typeface="Microsoft New Tai Lue"/>
                  <a:ea typeface="Microsoft New Tai Lue"/>
                  <a:cs typeface="Microsoft New Tai Lue"/>
                </a:rPr>
                <a:t>Successful Request Count</a:t>
              </a:r>
            </a:p>
            <a:p>
              <a:pPr algn="ctr"/>
              <a:endParaRPr sz="912"/>
            </a:p>
            <a:p>
              <a:pPr algn="ctr"/>
              <a:r>
                <a:rPr lang="zh-CN" altLang="en-US" sz="912" b="1" dirty="0">
                  <a:solidFill>
                    <a:srgbClr val="191919"/>
                  </a:solidFill>
                  <a:latin typeface="Microsoft New Tai Lue"/>
                  <a:ea typeface="Microsoft New Tai Lue"/>
                  <a:cs typeface="Microsoft New Tai Lue"/>
                </a:rPr>
                <a:t>Total Request Count</a:t>
              </a:r>
            </a:p>
          </p:txBody>
        </p:sp>
        <p:sp>
          <p:nvSpPr>
            <p:cNvPr id="167" name="Line connector"/>
            <p:cNvSpPr/>
            <p:nvPr/>
          </p:nvSpPr>
          <p:spPr>
            <a:xfrm rot="10800000">
              <a:off x="1307800" y="7062271"/>
              <a:ext cx="965200" cy="7600"/>
            </a:xfrm>
            <a:custGeom>
              <a:avLst/>
              <a:gdLst/>
              <a:ahLst/>
              <a:cxnLst/>
              <a:rect l="l" t="t" r="r" b="b"/>
              <a:pathLst>
                <a:path w="965200" h="7600" fill="none">
                  <a:moveTo>
                    <a:pt x="0" y="0"/>
                  </a:moveTo>
                  <a:lnTo>
                    <a:pt x="965200" y="0"/>
                  </a:lnTo>
                </a:path>
              </a:pathLst>
            </a:custGeom>
            <a:solidFill>
              <a:srgbClr val="EBEBEB"/>
            </a:solidFill>
            <a:ln w="20267" cap="flat">
              <a:solidFill>
                <a:srgbClr val="303030"/>
              </a:solidFill>
              <a:miter/>
            </a:ln>
          </p:spPr>
        </p:sp>
      </p:grpSp>
      <p:grpSp>
        <p:nvGrpSpPr>
          <p:cNvPr id="171" name="Grup 170"/>
          <p:cNvGrpSpPr/>
          <p:nvPr/>
        </p:nvGrpSpPr>
        <p:grpSpPr>
          <a:xfrm>
            <a:off x="1224200" y="5202463"/>
            <a:ext cx="1147600" cy="756960"/>
            <a:chOff x="1224200" y="5202463"/>
            <a:chExt cx="1147600" cy="756960"/>
          </a:xfrm>
        </p:grpSpPr>
        <p:sp>
          <p:nvSpPr>
            <p:cNvPr id="172" name="Process"/>
            <p:cNvSpPr/>
            <p:nvPr/>
          </p:nvSpPr>
          <p:spPr>
            <a:xfrm>
              <a:off x="1224200" y="5202463"/>
              <a:ext cx="1147600" cy="756960"/>
            </a:xfrm>
            <a:custGeom>
              <a:avLst/>
              <a:gdLst>
                <a:gd name="connsiteX0" fmla="*/ 0 w 1147600"/>
                <a:gd name="connsiteY0" fmla="*/ 378480 h 756960"/>
                <a:gd name="connsiteX1" fmla="*/ 573800 w 1147600"/>
                <a:gd name="connsiteY1" fmla="*/ 0 h 756960"/>
                <a:gd name="connsiteX2" fmla="*/ 1147600 w 1147600"/>
                <a:gd name="connsiteY2" fmla="*/ 378480 h 756960"/>
                <a:gd name="connsiteX3" fmla="*/ 573800 w 1147600"/>
                <a:gd name="connsiteY3" fmla="*/ 756960 h 756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7600" h="756960" stroke="0">
                  <a:moveTo>
                    <a:pt x="1147600" y="703760"/>
                  </a:moveTo>
                  <a:lnTo>
                    <a:pt x="1147600" y="53200"/>
                  </a:lnTo>
                  <a:cubicBezTo>
                    <a:pt x="1147600" y="23834"/>
                    <a:pt x="1123766" y="0"/>
                    <a:pt x="1094400" y="0"/>
                  </a:cubicBezTo>
                  <a:lnTo>
                    <a:pt x="53200" y="0"/>
                  </a:lnTo>
                  <a:cubicBezTo>
                    <a:pt x="23834" y="0"/>
                    <a:pt x="0" y="23834"/>
                    <a:pt x="0" y="53200"/>
                  </a:cubicBezTo>
                  <a:lnTo>
                    <a:pt x="0" y="703760"/>
                  </a:lnTo>
                  <a:cubicBezTo>
                    <a:pt x="0" y="733126"/>
                    <a:pt x="23834" y="756960"/>
                    <a:pt x="53200" y="756960"/>
                  </a:cubicBezTo>
                  <a:lnTo>
                    <a:pt x="1094400" y="756960"/>
                  </a:lnTo>
                  <a:cubicBezTo>
                    <a:pt x="1123766" y="756960"/>
                    <a:pt x="1147600" y="733126"/>
                    <a:pt x="1147600" y="703760"/>
                  </a:cubicBezTo>
                  <a:close/>
                </a:path>
                <a:path w="1147600" h="756960" fill="none">
                  <a:moveTo>
                    <a:pt x="1147600" y="703760"/>
                  </a:moveTo>
                  <a:lnTo>
                    <a:pt x="1147600" y="53200"/>
                  </a:lnTo>
                  <a:cubicBezTo>
                    <a:pt x="1147600" y="23834"/>
                    <a:pt x="1123766" y="0"/>
                    <a:pt x="1094400" y="0"/>
                  </a:cubicBezTo>
                  <a:lnTo>
                    <a:pt x="53200" y="0"/>
                  </a:lnTo>
                  <a:cubicBezTo>
                    <a:pt x="23834" y="0"/>
                    <a:pt x="0" y="23834"/>
                    <a:pt x="0" y="53200"/>
                  </a:cubicBezTo>
                  <a:lnTo>
                    <a:pt x="0" y="703760"/>
                  </a:lnTo>
                  <a:cubicBezTo>
                    <a:pt x="0" y="733126"/>
                    <a:pt x="23834" y="756960"/>
                    <a:pt x="53200" y="756960"/>
                  </a:cubicBezTo>
                  <a:lnTo>
                    <a:pt x="1094400" y="756960"/>
                  </a:lnTo>
                  <a:cubicBezTo>
                    <a:pt x="1123766" y="756960"/>
                    <a:pt x="1147600" y="733126"/>
                    <a:pt x="1147600" y="703760"/>
                  </a:cubicBezTo>
                  <a:close/>
                </a:path>
              </a:pathLst>
            </a:custGeom>
            <a:solidFill>
              <a:srgbClr val="EBEBEB"/>
            </a:solidFill>
            <a:ln w="7600" cap="flat">
              <a:solidFill>
                <a:srgbClr val="101843"/>
              </a:solidFill>
              <a:round/>
            </a:ln>
          </p:spPr>
          <p:txBody>
            <a:bodyPr wrap="square" lIns="38100" tIns="38100" rIns="38100" bIns="38100" rtlCol="0" anchor="ctr"/>
            <a:lstStyle/>
            <a:p>
              <a:pPr algn="ctr"/>
              <a:r>
                <a:rPr lang="zh-CN" altLang="en-US" sz="912" b="1" dirty="0">
                  <a:solidFill>
                    <a:srgbClr val="191919"/>
                  </a:solidFill>
                  <a:latin typeface="Microsoft New Tai Lue"/>
                  <a:ea typeface="Microsoft New Tai Lue"/>
                  <a:cs typeface="Microsoft New Tai Lue"/>
                </a:rPr>
                <a:t>Successful Request Count</a:t>
              </a:r>
            </a:p>
            <a:p>
              <a:pPr algn="ctr"/>
              <a:endParaRPr sz="912"/>
            </a:p>
            <a:p>
              <a:pPr algn="ctr"/>
              <a:r>
                <a:rPr lang="zh-CN" altLang="en-US" sz="912" b="1" dirty="0">
                  <a:solidFill>
                    <a:srgbClr val="191919"/>
                  </a:solidFill>
                  <a:latin typeface="Microsoft New Tai Lue"/>
                  <a:ea typeface="Microsoft New Tai Lue"/>
                  <a:cs typeface="Microsoft New Tai Lue"/>
                </a:rPr>
                <a:t>Total Request Count</a:t>
              </a:r>
            </a:p>
          </p:txBody>
        </p:sp>
        <p:sp>
          <p:nvSpPr>
            <p:cNvPr id="173" name="Line connector"/>
            <p:cNvSpPr/>
            <p:nvPr/>
          </p:nvSpPr>
          <p:spPr>
            <a:xfrm rot="10800000">
              <a:off x="1307800" y="5620463"/>
              <a:ext cx="965200" cy="7600"/>
            </a:xfrm>
            <a:custGeom>
              <a:avLst/>
              <a:gdLst/>
              <a:ahLst/>
              <a:cxnLst/>
              <a:rect l="l" t="t" r="r" b="b"/>
              <a:pathLst>
                <a:path w="965200" h="7600" fill="none">
                  <a:moveTo>
                    <a:pt x="0" y="0"/>
                  </a:moveTo>
                  <a:lnTo>
                    <a:pt x="965200" y="0"/>
                  </a:lnTo>
                </a:path>
              </a:pathLst>
            </a:custGeom>
            <a:solidFill>
              <a:srgbClr val="EBEBEB"/>
            </a:solidFill>
            <a:ln w="20267" cap="flat">
              <a:solidFill>
                <a:srgbClr val="303030"/>
              </a:solidFill>
              <a:miter/>
            </a:ln>
          </p:spPr>
        </p:sp>
      </p:grpSp>
      <p:grpSp>
        <p:nvGrpSpPr>
          <p:cNvPr id="174" name="Grup 173"/>
          <p:cNvGrpSpPr/>
          <p:nvPr/>
        </p:nvGrpSpPr>
        <p:grpSpPr>
          <a:xfrm>
            <a:off x="1224200" y="2382863"/>
            <a:ext cx="1147600" cy="756960"/>
            <a:chOff x="1224200" y="2382863"/>
            <a:chExt cx="1147600" cy="756960"/>
          </a:xfrm>
        </p:grpSpPr>
        <p:sp>
          <p:nvSpPr>
            <p:cNvPr id="175" name="Process"/>
            <p:cNvSpPr/>
            <p:nvPr/>
          </p:nvSpPr>
          <p:spPr>
            <a:xfrm>
              <a:off x="1224200" y="2382863"/>
              <a:ext cx="1147600" cy="756960"/>
            </a:xfrm>
            <a:custGeom>
              <a:avLst/>
              <a:gdLst>
                <a:gd name="connsiteX0" fmla="*/ 0 w 1147600"/>
                <a:gd name="connsiteY0" fmla="*/ 378480 h 756960"/>
                <a:gd name="connsiteX1" fmla="*/ 573800 w 1147600"/>
                <a:gd name="connsiteY1" fmla="*/ 0 h 756960"/>
                <a:gd name="connsiteX2" fmla="*/ 1147600 w 1147600"/>
                <a:gd name="connsiteY2" fmla="*/ 378480 h 756960"/>
                <a:gd name="connsiteX3" fmla="*/ 573800 w 1147600"/>
                <a:gd name="connsiteY3" fmla="*/ 756960 h 756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7600" h="756960" stroke="0">
                  <a:moveTo>
                    <a:pt x="1147600" y="703760"/>
                  </a:moveTo>
                  <a:lnTo>
                    <a:pt x="1147600" y="53200"/>
                  </a:lnTo>
                  <a:cubicBezTo>
                    <a:pt x="1147600" y="23834"/>
                    <a:pt x="1123766" y="0"/>
                    <a:pt x="1094400" y="0"/>
                  </a:cubicBezTo>
                  <a:lnTo>
                    <a:pt x="53200" y="0"/>
                  </a:lnTo>
                  <a:cubicBezTo>
                    <a:pt x="23834" y="0"/>
                    <a:pt x="0" y="23834"/>
                    <a:pt x="0" y="53200"/>
                  </a:cubicBezTo>
                  <a:lnTo>
                    <a:pt x="0" y="703760"/>
                  </a:lnTo>
                  <a:cubicBezTo>
                    <a:pt x="0" y="733126"/>
                    <a:pt x="23834" y="756960"/>
                    <a:pt x="53200" y="756960"/>
                  </a:cubicBezTo>
                  <a:lnTo>
                    <a:pt x="1094400" y="756960"/>
                  </a:lnTo>
                  <a:cubicBezTo>
                    <a:pt x="1123766" y="756960"/>
                    <a:pt x="1147600" y="733126"/>
                    <a:pt x="1147600" y="703760"/>
                  </a:cubicBezTo>
                  <a:close/>
                </a:path>
                <a:path w="1147600" h="756960" fill="none">
                  <a:moveTo>
                    <a:pt x="1147600" y="703760"/>
                  </a:moveTo>
                  <a:lnTo>
                    <a:pt x="1147600" y="53200"/>
                  </a:lnTo>
                  <a:cubicBezTo>
                    <a:pt x="1147600" y="23834"/>
                    <a:pt x="1123766" y="0"/>
                    <a:pt x="1094400" y="0"/>
                  </a:cubicBezTo>
                  <a:lnTo>
                    <a:pt x="53200" y="0"/>
                  </a:lnTo>
                  <a:cubicBezTo>
                    <a:pt x="23834" y="0"/>
                    <a:pt x="0" y="23834"/>
                    <a:pt x="0" y="53200"/>
                  </a:cubicBezTo>
                  <a:lnTo>
                    <a:pt x="0" y="703760"/>
                  </a:lnTo>
                  <a:cubicBezTo>
                    <a:pt x="0" y="733126"/>
                    <a:pt x="23834" y="756960"/>
                    <a:pt x="53200" y="756960"/>
                  </a:cubicBezTo>
                  <a:lnTo>
                    <a:pt x="1094400" y="756960"/>
                  </a:lnTo>
                  <a:cubicBezTo>
                    <a:pt x="1123766" y="756960"/>
                    <a:pt x="1147600" y="733126"/>
                    <a:pt x="1147600" y="703760"/>
                  </a:cubicBezTo>
                  <a:close/>
                </a:path>
              </a:pathLst>
            </a:custGeom>
            <a:solidFill>
              <a:srgbClr val="EBEBEB"/>
            </a:solidFill>
            <a:ln w="7600" cap="flat">
              <a:solidFill>
                <a:srgbClr val="101843"/>
              </a:solidFill>
              <a:round/>
            </a:ln>
          </p:spPr>
          <p:txBody>
            <a:bodyPr wrap="square" lIns="38100" tIns="38100" rIns="38100" bIns="38100" rtlCol="0" anchor="ctr"/>
            <a:lstStyle/>
            <a:p>
              <a:pPr algn="ctr"/>
              <a:r>
                <a:rPr lang="zh-CN" altLang="en-US" sz="912" b="1" dirty="0">
                  <a:solidFill>
                    <a:srgbClr val="191919"/>
                  </a:solidFill>
                  <a:latin typeface="Microsoft New Tai Lue"/>
                  <a:ea typeface="Microsoft New Tai Lue"/>
                  <a:cs typeface="Microsoft New Tai Lue"/>
                </a:rPr>
                <a:t>Successful Request Count</a:t>
              </a:r>
            </a:p>
            <a:p>
              <a:pPr algn="ctr"/>
              <a:endParaRPr sz="912" dirty="0"/>
            </a:p>
            <a:p>
              <a:pPr algn="ctr"/>
              <a:r>
                <a:rPr lang="zh-CN" altLang="en-US" sz="912" b="1" dirty="0">
                  <a:solidFill>
                    <a:srgbClr val="191919"/>
                  </a:solidFill>
                  <a:latin typeface="Microsoft New Tai Lue"/>
                  <a:ea typeface="Microsoft New Tai Lue"/>
                  <a:cs typeface="Microsoft New Tai Lue"/>
                </a:rPr>
                <a:t>Total Request Count</a:t>
              </a:r>
            </a:p>
          </p:txBody>
        </p:sp>
        <p:sp>
          <p:nvSpPr>
            <p:cNvPr id="176" name="Line connector"/>
            <p:cNvSpPr/>
            <p:nvPr/>
          </p:nvSpPr>
          <p:spPr>
            <a:xfrm rot="10800000">
              <a:off x="1307800" y="2800863"/>
              <a:ext cx="965200" cy="7600"/>
            </a:xfrm>
            <a:custGeom>
              <a:avLst/>
              <a:gdLst/>
              <a:ahLst/>
              <a:cxnLst/>
              <a:rect l="l" t="t" r="r" b="b"/>
              <a:pathLst>
                <a:path w="965200" h="7600" fill="none">
                  <a:moveTo>
                    <a:pt x="0" y="0"/>
                  </a:moveTo>
                  <a:lnTo>
                    <a:pt x="965200" y="0"/>
                  </a:lnTo>
                </a:path>
              </a:pathLst>
            </a:custGeom>
            <a:solidFill>
              <a:srgbClr val="EBEBEB"/>
            </a:solidFill>
            <a:ln w="20267" cap="flat">
              <a:solidFill>
                <a:srgbClr val="303030"/>
              </a:solidFill>
              <a:miter/>
            </a:ln>
          </p:spPr>
        </p:sp>
      </p:grpSp>
      <p:grpSp>
        <p:nvGrpSpPr>
          <p:cNvPr id="177" name="Grup 176"/>
          <p:cNvGrpSpPr/>
          <p:nvPr/>
        </p:nvGrpSpPr>
        <p:grpSpPr>
          <a:xfrm>
            <a:off x="1224200" y="149600"/>
            <a:ext cx="1147600" cy="756960"/>
            <a:chOff x="1224200" y="149600"/>
            <a:chExt cx="1147600" cy="756960"/>
          </a:xfrm>
        </p:grpSpPr>
        <p:sp>
          <p:nvSpPr>
            <p:cNvPr id="178" name="Process"/>
            <p:cNvSpPr/>
            <p:nvPr/>
          </p:nvSpPr>
          <p:spPr>
            <a:xfrm>
              <a:off x="1224200" y="149600"/>
              <a:ext cx="1147600" cy="756960"/>
            </a:xfrm>
            <a:custGeom>
              <a:avLst/>
              <a:gdLst>
                <a:gd name="connsiteX0" fmla="*/ 0 w 1147600"/>
                <a:gd name="connsiteY0" fmla="*/ 378480 h 756960"/>
                <a:gd name="connsiteX1" fmla="*/ 573800 w 1147600"/>
                <a:gd name="connsiteY1" fmla="*/ 0 h 756960"/>
                <a:gd name="connsiteX2" fmla="*/ 1147600 w 1147600"/>
                <a:gd name="connsiteY2" fmla="*/ 378480 h 756960"/>
                <a:gd name="connsiteX3" fmla="*/ 573800 w 1147600"/>
                <a:gd name="connsiteY3" fmla="*/ 756960 h 756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7600" h="756960" stroke="0">
                  <a:moveTo>
                    <a:pt x="1147600" y="703760"/>
                  </a:moveTo>
                  <a:lnTo>
                    <a:pt x="1147600" y="53200"/>
                  </a:lnTo>
                  <a:cubicBezTo>
                    <a:pt x="1147600" y="23834"/>
                    <a:pt x="1123766" y="0"/>
                    <a:pt x="1094400" y="0"/>
                  </a:cubicBezTo>
                  <a:lnTo>
                    <a:pt x="53200" y="0"/>
                  </a:lnTo>
                  <a:cubicBezTo>
                    <a:pt x="23834" y="0"/>
                    <a:pt x="0" y="23834"/>
                    <a:pt x="0" y="53200"/>
                  </a:cubicBezTo>
                  <a:lnTo>
                    <a:pt x="0" y="703760"/>
                  </a:lnTo>
                  <a:cubicBezTo>
                    <a:pt x="0" y="733126"/>
                    <a:pt x="23834" y="756960"/>
                    <a:pt x="53200" y="756960"/>
                  </a:cubicBezTo>
                  <a:lnTo>
                    <a:pt x="1094400" y="756960"/>
                  </a:lnTo>
                  <a:cubicBezTo>
                    <a:pt x="1123766" y="756960"/>
                    <a:pt x="1147600" y="733126"/>
                    <a:pt x="1147600" y="703760"/>
                  </a:cubicBezTo>
                  <a:close/>
                </a:path>
                <a:path w="1147600" h="756960" fill="none">
                  <a:moveTo>
                    <a:pt x="1147600" y="703760"/>
                  </a:moveTo>
                  <a:lnTo>
                    <a:pt x="1147600" y="53200"/>
                  </a:lnTo>
                  <a:cubicBezTo>
                    <a:pt x="1147600" y="23834"/>
                    <a:pt x="1123766" y="0"/>
                    <a:pt x="1094400" y="0"/>
                  </a:cubicBezTo>
                  <a:lnTo>
                    <a:pt x="53200" y="0"/>
                  </a:lnTo>
                  <a:cubicBezTo>
                    <a:pt x="23834" y="0"/>
                    <a:pt x="0" y="23834"/>
                    <a:pt x="0" y="53200"/>
                  </a:cubicBezTo>
                  <a:lnTo>
                    <a:pt x="0" y="703760"/>
                  </a:lnTo>
                  <a:cubicBezTo>
                    <a:pt x="0" y="733126"/>
                    <a:pt x="23834" y="756960"/>
                    <a:pt x="53200" y="756960"/>
                  </a:cubicBezTo>
                  <a:lnTo>
                    <a:pt x="1094400" y="756960"/>
                  </a:lnTo>
                  <a:cubicBezTo>
                    <a:pt x="1123766" y="756960"/>
                    <a:pt x="1147600" y="733126"/>
                    <a:pt x="1147600" y="703760"/>
                  </a:cubicBezTo>
                  <a:close/>
                </a:path>
              </a:pathLst>
            </a:custGeom>
            <a:solidFill>
              <a:srgbClr val="EBEBEB"/>
            </a:solidFill>
            <a:ln w="7600" cap="flat">
              <a:solidFill>
                <a:srgbClr val="101843"/>
              </a:solidFill>
              <a:round/>
            </a:ln>
          </p:spPr>
          <p:txBody>
            <a:bodyPr wrap="square" lIns="38100" tIns="38100" rIns="38100" bIns="38100" rtlCol="0" anchor="ctr"/>
            <a:lstStyle/>
            <a:p>
              <a:pPr algn="ctr"/>
              <a:r>
                <a:rPr lang="zh-CN" altLang="en-US" sz="912" b="1" dirty="0">
                  <a:solidFill>
                    <a:srgbClr val="191919"/>
                  </a:solidFill>
                  <a:latin typeface="Microsoft New Tai Lue"/>
                  <a:ea typeface="Microsoft New Tai Lue"/>
                  <a:cs typeface="Microsoft New Tai Lue"/>
                </a:rPr>
                <a:t>Successful Request Count</a:t>
              </a:r>
            </a:p>
            <a:p>
              <a:pPr algn="ctr"/>
              <a:endParaRPr sz="912"/>
            </a:p>
            <a:p>
              <a:pPr algn="ctr"/>
              <a:r>
                <a:rPr lang="zh-CN" altLang="en-US" sz="912" b="1" dirty="0">
                  <a:solidFill>
                    <a:srgbClr val="191919"/>
                  </a:solidFill>
                  <a:latin typeface="Microsoft New Tai Lue"/>
                  <a:ea typeface="Microsoft New Tai Lue"/>
                  <a:cs typeface="Microsoft New Tai Lue"/>
                </a:rPr>
                <a:t>Total Request Count</a:t>
              </a:r>
            </a:p>
          </p:txBody>
        </p:sp>
        <p:sp>
          <p:nvSpPr>
            <p:cNvPr id="179" name="Line connector"/>
            <p:cNvSpPr/>
            <p:nvPr/>
          </p:nvSpPr>
          <p:spPr>
            <a:xfrm rot="10800000">
              <a:off x="1307800" y="567600"/>
              <a:ext cx="965200" cy="7600"/>
            </a:xfrm>
            <a:custGeom>
              <a:avLst/>
              <a:gdLst/>
              <a:ahLst/>
              <a:cxnLst/>
              <a:rect l="l" t="t" r="r" b="b"/>
              <a:pathLst>
                <a:path w="965200" h="7600" fill="none">
                  <a:moveTo>
                    <a:pt x="0" y="0"/>
                  </a:moveTo>
                  <a:lnTo>
                    <a:pt x="965200" y="0"/>
                  </a:lnTo>
                </a:path>
              </a:pathLst>
            </a:custGeom>
            <a:solidFill>
              <a:srgbClr val="EBEBEB"/>
            </a:solidFill>
            <a:ln w="20267" cap="flat">
              <a:solidFill>
                <a:srgbClr val="303030"/>
              </a:solidFill>
              <a:miter/>
            </a:ln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102</Words>
  <Application>Microsoft Office PowerPoint</Application>
  <PresentationFormat>Ekran Gösterisi (4:3)</PresentationFormat>
  <Paragraphs>66</Paragraphs>
  <Slides>1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</vt:i4>
      </vt:variant>
    </vt:vector>
  </HeadingPairs>
  <TitlesOfParts>
    <vt:vector size="7" baseType="lpstr">
      <vt:lpstr>宋体</vt:lpstr>
      <vt:lpstr>Arial</vt:lpstr>
      <vt:lpstr>Calibri</vt:lpstr>
      <vt:lpstr>Calibri Light</vt:lpstr>
      <vt:lpstr>Microsoft New Tai Lue</vt:lpstr>
      <vt:lpstr>Office Theme</vt:lpstr>
      <vt:lpstr>PowerPoint Sunusu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PIT191</dc:creator>
  <cp:lastModifiedBy>Microsoft hesabı</cp:lastModifiedBy>
  <cp:revision>1</cp:revision>
  <dcterms:created xsi:type="dcterms:W3CDTF">2025-01-21T15:50:53Z</dcterms:created>
  <dcterms:modified xsi:type="dcterms:W3CDTF">2025-01-21T12:52:19Z</dcterms:modified>
</cp:coreProperties>
</file>